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5" r:id="rId11"/>
    <p:sldId id="267" r:id="rId12"/>
    <p:sldId id="264"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50" d="100"/>
          <a:sy n="50" d="100"/>
        </p:scale>
        <p:origin x="1500"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C337F-6BE8-31F0-CF28-06309D13397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087399B2-6CF1-1EE9-21DF-695B8FABDB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7AE8B43D-429C-F2E9-1492-E065A1089805}"/>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9DEA023D-0F27-6738-632C-300C5A8E6BE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6216179-B812-05A4-3DB6-B09EFF7FF219}"/>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4097530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1E856F-17A3-B76A-6D3A-24623F1D28C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E381C85-19D3-0986-2B56-862CEF9CE4B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F150AB8-90E4-A7E6-9E8E-C61A7679E614}"/>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04A5361F-EC44-151B-8FC3-01459635699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EBCA2FF-061C-BF9C-6957-8E18D7B01042}"/>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1933043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7DE5C9-7E60-33CD-0A74-560857B982E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62124D08-1B59-593B-3C4B-D50B738F91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C5D5E3C-13F6-0100-47D5-F45723490C64}"/>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209D1A64-71E8-8C9D-A45D-38B904CA32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4947C3E-D04C-41CA-F284-A2FCAECE97B9}"/>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985912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4D10F7-6526-5909-FB57-63144A20F9D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A68858F-9853-5A6F-1BC1-98342674D78E}"/>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AB9F4CD-3324-E229-76D5-67A6540D5A0F}"/>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F57839A-A338-DB88-868D-094C06945D15}"/>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6" name="바닥글 개체 틀 5">
            <a:extLst>
              <a:ext uri="{FF2B5EF4-FFF2-40B4-BE49-F238E27FC236}">
                <a16:creationId xmlns:a16="http://schemas.microsoft.com/office/drawing/2014/main" id="{1244B3D4-F07D-F6CE-6318-3185578320B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BA3C4A1-7CA1-AB3A-A9EC-FB428F804763}"/>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3019838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9EC592-AC4E-1858-9318-29DC7B59783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871C5E7-36EF-45B5-A53C-2035C7779C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FBA6486-4E23-320A-D77B-1C3770C7DB3E}"/>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F96C292-52D2-F731-FFCB-D4F04251A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108E1B6-C42E-DDF0-6667-ED077614260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05C1AF46-7790-2811-EA20-664CEA331541}"/>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8" name="바닥글 개체 틀 7">
            <a:extLst>
              <a:ext uri="{FF2B5EF4-FFF2-40B4-BE49-F238E27FC236}">
                <a16:creationId xmlns:a16="http://schemas.microsoft.com/office/drawing/2014/main" id="{AA0E5F11-BF88-46B2-3130-3EB4C52C065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EDB12DE-D5B4-AA48-B23A-E7B5343498CB}"/>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1529541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4C8FF6D-5D51-2248-F645-4FDE1544CC2A}"/>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4A92827D-AB0B-824D-F0FD-40B65470C722}"/>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4" name="바닥글 개체 틀 3">
            <a:extLst>
              <a:ext uri="{FF2B5EF4-FFF2-40B4-BE49-F238E27FC236}">
                <a16:creationId xmlns:a16="http://schemas.microsoft.com/office/drawing/2014/main" id="{13C87BD5-1B28-75F0-4B6E-A9C5FFD83623}"/>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C736768-7FCC-7727-7338-2CA18C87C84B}"/>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1341037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A9EFF89-7BCE-503A-B8ED-29AD00ED9685}"/>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3" name="바닥글 개체 틀 2">
            <a:extLst>
              <a:ext uri="{FF2B5EF4-FFF2-40B4-BE49-F238E27FC236}">
                <a16:creationId xmlns:a16="http://schemas.microsoft.com/office/drawing/2014/main" id="{EF26504B-9E55-19B3-D9A0-00A54297EAB4}"/>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B562DF96-F2DF-F939-E4F0-FE52F13E0F0B}"/>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625066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647EE6-299D-F70C-E726-58ACC11954F9}"/>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74C2508A-A1BF-5020-447A-69398AFB33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6C61706-0F2E-D838-3DB7-7DDBB4503B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27D164B4-870C-58FB-8BBF-A6650F65D5D0}"/>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6" name="바닥글 개체 틀 5">
            <a:extLst>
              <a:ext uri="{FF2B5EF4-FFF2-40B4-BE49-F238E27FC236}">
                <a16:creationId xmlns:a16="http://schemas.microsoft.com/office/drawing/2014/main" id="{0DB82162-C914-5930-6399-AE3E2FBD7F8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2CF4D94-6C46-031C-D64F-3C242B430CBF}"/>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1449990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9A7199E-66F3-FCDB-69C7-EFEFE07F0CB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D40D6C5-A98F-2EE7-7419-7D48A24D56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7D592D7-A033-0551-E692-A07DE7511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BF9A9638-3C98-51BD-5C54-3B6C97FB8641}"/>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6" name="바닥글 개체 틀 5">
            <a:extLst>
              <a:ext uri="{FF2B5EF4-FFF2-40B4-BE49-F238E27FC236}">
                <a16:creationId xmlns:a16="http://schemas.microsoft.com/office/drawing/2014/main" id="{37D7AF56-4B84-83F3-C3F9-1E91709116E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933170B-287B-A32A-AA4C-BFE869C048BA}"/>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426614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9AAA1A-5369-1258-4B8F-4243478FE98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E269127F-A865-D3CE-B94A-2EA4ED55B16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D181A-B37A-0002-A8A2-88474BC84DF1}"/>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38956E44-2E28-77A3-0C76-C9A07BE7FA8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99362B6-629B-407F-4A66-1D81B3BEFD1A}"/>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2911157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A7BAB45-44D0-D689-3A46-FAF990878C0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96EC70B-E03C-BF87-E635-D452A2479ED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4A627FF-9B81-A617-6AA4-3F58C26E4327}"/>
              </a:ext>
            </a:extLst>
          </p:cNvPr>
          <p:cNvSpPr>
            <a:spLocks noGrp="1"/>
          </p:cNvSpPr>
          <p:nvPr>
            <p:ph type="dt" sz="half" idx="10"/>
          </p:nvPr>
        </p:nvSpPr>
        <p:spPr/>
        <p:txBody>
          <a:body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3ACAEBEA-ECDF-6F16-1E0F-D06E6AFBC15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2AA95F5-0305-30C9-359B-A6E5D1ED3ED7}"/>
              </a:ext>
            </a:extLst>
          </p:cNvPr>
          <p:cNvSpPr>
            <a:spLocks noGrp="1"/>
          </p:cNvSpPr>
          <p:nvPr>
            <p:ph type="sldNum" sz="quarter" idx="12"/>
          </p:nvPr>
        </p:nvSpPr>
        <p:spPr/>
        <p:txBody>
          <a:body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3541912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D6E8F89-A836-B9CA-145F-85397D6C6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B7C7888-FEB8-5008-29EA-59455FA24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C78B1A3-C23B-3DE8-0EB0-9CB3C3B23B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AD9E8-F5AA-4378-8A05-9BD4785767AB}" type="datetimeFigureOut">
              <a:rPr lang="ko-KR" altLang="en-US" smtClean="0"/>
              <a:t>2026-09-05</a:t>
            </a:fld>
            <a:endParaRPr lang="ko-KR" altLang="en-US"/>
          </a:p>
        </p:txBody>
      </p:sp>
      <p:sp>
        <p:nvSpPr>
          <p:cNvPr id="5" name="바닥글 개체 틀 4">
            <a:extLst>
              <a:ext uri="{FF2B5EF4-FFF2-40B4-BE49-F238E27FC236}">
                <a16:creationId xmlns:a16="http://schemas.microsoft.com/office/drawing/2014/main" id="{29162607-D47E-EBCB-4523-CF824F63B2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8871FD3-735A-F8DB-7594-A02BC513A4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EAAB90-D7E8-4609-98CA-3621E9CE7D7E}" type="slidenum">
              <a:rPr lang="ko-KR" altLang="en-US" smtClean="0"/>
              <a:t>‹#›</a:t>
            </a:fld>
            <a:endParaRPr lang="ko-KR" altLang="en-US"/>
          </a:p>
        </p:txBody>
      </p:sp>
    </p:spTree>
    <p:extLst>
      <p:ext uri="{BB962C8B-B14F-4D97-AF65-F5344CB8AC3E}">
        <p14:creationId xmlns:p14="http://schemas.microsoft.com/office/powerpoint/2010/main" val="33163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rku.ca/gis/es7189/docs/malczewski00.pdf" TargetMode="External"/><Relationship Id="rId2" Type="http://schemas.openxmlformats.org/officeDocument/2006/relationships/hyperlink" Target="https://environment.data.gov.uk/api/file/download?fileDataSetId=a151421a-1a41-44ad-a20a-ff4bcf265cad&amp;fileName=Habitat_Network_Mapping_Guidance-Final_May2020.pdf" TargetMode="External"/><Relationship Id="rId1" Type="http://schemas.openxmlformats.org/officeDocument/2006/relationships/slideLayout" Target="../slideLayouts/slideLayout2.xml"/><Relationship Id="rId4" Type="http://schemas.openxmlformats.org/officeDocument/2006/relationships/hyperlink" Target="https://www.location-intelligence.org/suitability-scoring-site-ranking-models/building-weighted-site-suitability-scor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A56EE1-A21E-0769-BCA9-7832F0B79A6A}"/>
              </a:ext>
            </a:extLst>
          </p:cNvPr>
          <p:cNvSpPr txBox="1"/>
          <p:nvPr/>
        </p:nvSpPr>
        <p:spPr>
          <a:xfrm>
            <a:off x="293914" y="277586"/>
            <a:ext cx="11288486" cy="584775"/>
          </a:xfrm>
          <a:prstGeom prst="rect">
            <a:avLst/>
          </a:prstGeom>
          <a:noFill/>
        </p:spPr>
        <p:txBody>
          <a:bodyPr wrap="square" rtlCol="0">
            <a:spAutoFit/>
          </a:bodyPr>
          <a:lstStyle/>
          <a:p>
            <a:r>
              <a:rPr lang="en-US" altLang="ko-KR" sz="3200" dirty="0"/>
              <a:t>UK National Parks Habitat connectivity opportunity Project</a:t>
            </a:r>
            <a:endParaRPr lang="ko-KR" altLang="en-US" sz="3200" dirty="0"/>
          </a:p>
        </p:txBody>
      </p:sp>
      <p:pic>
        <p:nvPicPr>
          <p:cNvPr id="10" name="그림 9">
            <a:extLst>
              <a:ext uri="{FF2B5EF4-FFF2-40B4-BE49-F238E27FC236}">
                <a16:creationId xmlns:a16="http://schemas.microsoft.com/office/drawing/2014/main" id="{CE8F461B-2FB9-042E-AC81-1FC5E520D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7157" y="1043084"/>
            <a:ext cx="7630293" cy="5395816"/>
          </a:xfrm>
          <a:prstGeom prst="rect">
            <a:avLst/>
          </a:prstGeom>
        </p:spPr>
      </p:pic>
    </p:spTree>
    <p:extLst>
      <p:ext uri="{BB962C8B-B14F-4D97-AF65-F5344CB8AC3E}">
        <p14:creationId xmlns:p14="http://schemas.microsoft.com/office/powerpoint/2010/main" val="2755198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3F47A8-605A-B1ED-9175-4D4336F603B3}"/>
              </a:ext>
            </a:extLst>
          </p:cNvPr>
          <p:cNvSpPr txBox="1"/>
          <p:nvPr/>
        </p:nvSpPr>
        <p:spPr>
          <a:xfrm>
            <a:off x="1172936" y="566058"/>
            <a:ext cx="10189028" cy="5632311"/>
          </a:xfrm>
          <a:prstGeom prst="rect">
            <a:avLst/>
          </a:prstGeom>
          <a:noFill/>
        </p:spPr>
        <p:txBody>
          <a:bodyPr wrap="square" rtlCol="0">
            <a:spAutoFit/>
          </a:bodyPr>
          <a:lstStyle/>
          <a:p>
            <a:r>
              <a:rPr lang="en-US" altLang="ko-KR" dirty="0"/>
              <a:t>The aim of this project was to </a:t>
            </a:r>
            <a:r>
              <a:rPr lang="en-US" altLang="ko-KR" b="1" dirty="0"/>
              <a:t>locate, within the habitats that are distinct to each of the 10 National Parks of the UK, patches that have potential for connectivity with Ancient Woodlands and other habitats and thus function as center for habitat restoration and expansion</a:t>
            </a:r>
            <a:r>
              <a:rPr lang="en-US" altLang="ko-KR" dirty="0"/>
              <a:t>.  Ancient Woodlands can function as basis for habitat retention and restoration because they are </a:t>
            </a:r>
            <a:r>
              <a:rPr lang="en-US" altLang="ko-KR" dirty="0" err="1"/>
              <a:t>harbours</a:t>
            </a:r>
            <a:r>
              <a:rPr lang="en-US" altLang="ko-KR" dirty="0"/>
              <a:t> of massive mycorrhizal fungi network, humic layer of soil and invertebrates.  I located the areas of Ancient Woodlands in each park by clipping the UK Ancient Woodlands layer with the park boundaries, buffered them 250m,  chose a different habitat type for each park that has distinct ecological significance for each park and clipped that as well, made subtraction of the buffered woodlands area and habitat layer, overlayed them with the Priority Habitat Inventory Layer to find candidates for places with high ecological value when restored, excluded road areas by using OS Open Roads Data and used centroids tool in the software to calculate the shortest path from the candidate patches to the already existing habitats, used the </a:t>
            </a:r>
            <a:r>
              <a:rPr lang="en-US" altLang="ko-KR" b="1" dirty="0"/>
              <a:t>MCDA</a:t>
            </a:r>
            <a:r>
              <a:rPr lang="en-US" altLang="ko-KR" dirty="0"/>
              <a:t> method to score it based on the distance and the area of the candidate patches and classified the symbology of the candidate patches according to the scoring. I first did this as a hobby project for a nature reserve called Chilterns AONB near my home, and the thought it would be a good portfolio material so fed the process to AI and got it to script the pipeline using Python in QGIS and automated it. The usage of 250m buffer was based on </a:t>
            </a:r>
            <a:r>
              <a:rPr lang="en-US" altLang="ko-KR" b="1" dirty="0"/>
              <a:t>Lawton principle </a:t>
            </a:r>
            <a:r>
              <a:rPr lang="en-US" altLang="ko-KR" dirty="0"/>
              <a:t>of creating “more, bigger, better and more joined up” habitats and I believe my project is inline with the quantification of BNG investment baseline. The following pages briefly explain the steps I undertook with images.</a:t>
            </a:r>
            <a:endParaRPr lang="ko-KR" altLang="en-US" dirty="0"/>
          </a:p>
        </p:txBody>
      </p:sp>
    </p:spTree>
    <p:extLst>
      <p:ext uri="{BB962C8B-B14F-4D97-AF65-F5344CB8AC3E}">
        <p14:creationId xmlns:p14="http://schemas.microsoft.com/office/powerpoint/2010/main" val="1193992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C86F58-07B2-C1C6-D828-9BE4A52A6390}"/>
              </a:ext>
            </a:extLst>
          </p:cNvPr>
          <p:cNvSpPr>
            <a:spLocks noGrp="1"/>
          </p:cNvSpPr>
          <p:nvPr>
            <p:ph type="title"/>
          </p:nvPr>
        </p:nvSpPr>
        <p:spPr/>
        <p:txBody>
          <a:bodyPr>
            <a:normAutofit fontScale="90000"/>
          </a:bodyPr>
          <a:lstStyle/>
          <a:p>
            <a:r>
              <a:rPr lang="ko-KR" altLang="ko-KR" sz="2700" b="1" dirty="0" err="1"/>
              <a:t>Baseline</a:t>
            </a:r>
            <a:r>
              <a:rPr lang="ko-KR" altLang="ko-KR" sz="2700" b="1" dirty="0"/>
              <a:t> </a:t>
            </a:r>
            <a:r>
              <a:rPr lang="ko-KR" altLang="ko-KR" sz="2700" b="1" dirty="0" err="1"/>
              <a:t>Anchoring</a:t>
            </a:r>
            <a:r>
              <a:rPr lang="ko-KR" altLang="ko-KR" sz="2700" b="1" dirty="0"/>
              <a:t>: </a:t>
            </a:r>
            <a:r>
              <a:rPr lang="ko-KR" altLang="ko-KR" sz="2700" b="1" dirty="0" err="1"/>
              <a:t>Ancient</a:t>
            </a:r>
            <a:r>
              <a:rPr lang="ko-KR" altLang="ko-KR" sz="2700" b="1" dirty="0"/>
              <a:t> </a:t>
            </a:r>
            <a:r>
              <a:rPr lang="ko-KR" altLang="ko-KR" sz="2700" b="1" dirty="0" err="1"/>
              <a:t>Woodland</a:t>
            </a:r>
            <a:r>
              <a:rPr lang="ko-KR" altLang="ko-KR" sz="2700" b="1" dirty="0"/>
              <a:t> </a:t>
            </a:r>
            <a:r>
              <a:rPr lang="ko-KR" altLang="ko-KR" sz="2700" b="1" dirty="0" err="1"/>
              <a:t>Extraction</a:t>
            </a:r>
            <a:r>
              <a:rPr lang="ko-KR" altLang="ko-KR" sz="2700" b="1" dirty="0"/>
              <a:t> &amp; 250m </a:t>
            </a:r>
            <a:r>
              <a:rPr lang="ko-KR" altLang="ko-KR" sz="2700" b="1" dirty="0" err="1"/>
              <a:t>Ecological</a:t>
            </a:r>
            <a:r>
              <a:rPr lang="ko-KR" altLang="ko-KR" sz="2700" b="1" dirty="0"/>
              <a:t> </a:t>
            </a:r>
            <a:r>
              <a:rPr lang="ko-KR" altLang="ko-KR" sz="2700" b="1" dirty="0" err="1"/>
              <a:t>Buffer</a:t>
            </a:r>
            <a:br>
              <a:rPr lang="ko-KR" altLang="ko-KR" b="1" dirty="0"/>
            </a:br>
            <a:endParaRPr lang="ko-KR" altLang="en-US" dirty="0"/>
          </a:p>
        </p:txBody>
      </p:sp>
      <p:sp>
        <p:nvSpPr>
          <p:cNvPr id="3" name="내용 개체 틀 2">
            <a:extLst>
              <a:ext uri="{FF2B5EF4-FFF2-40B4-BE49-F238E27FC236}">
                <a16:creationId xmlns:a16="http://schemas.microsoft.com/office/drawing/2014/main" id="{C3E19BBC-D4F9-5B0C-DB02-DE268431E421}"/>
              </a:ext>
            </a:extLst>
          </p:cNvPr>
          <p:cNvSpPr>
            <a:spLocks noGrp="1"/>
          </p:cNvSpPr>
          <p:nvPr>
            <p:ph idx="1"/>
          </p:nvPr>
        </p:nvSpPr>
        <p:spPr>
          <a:xfrm>
            <a:off x="400050" y="1597171"/>
            <a:ext cx="5543550" cy="4351338"/>
          </a:xfrm>
        </p:spPr>
        <p:txBody>
          <a:bodyPr>
            <a:normAutofit/>
          </a:bodyPr>
          <a:lstStyle/>
          <a:p>
            <a:pPr lvl="0"/>
            <a:r>
              <a:rPr lang="ko-KR" altLang="ko-KR" dirty="0" err="1"/>
              <a:t>Clipped</a:t>
            </a:r>
            <a:r>
              <a:rPr lang="ko-KR" altLang="ko-KR" dirty="0"/>
              <a:t> </a:t>
            </a:r>
            <a:r>
              <a:rPr lang="ko-KR" altLang="ko-KR" dirty="0" err="1"/>
              <a:t>Ancient</a:t>
            </a:r>
            <a:r>
              <a:rPr lang="ko-KR" altLang="ko-KR" dirty="0"/>
              <a:t> </a:t>
            </a:r>
            <a:r>
              <a:rPr lang="ko-KR" altLang="ko-KR" dirty="0" err="1"/>
              <a:t>Woodlands</a:t>
            </a:r>
            <a:r>
              <a:rPr lang="ko-KR" altLang="ko-KR" dirty="0"/>
              <a:t> </a:t>
            </a:r>
            <a:r>
              <a:rPr lang="ko-KR" altLang="ko-KR" dirty="0" err="1"/>
              <a:t>within</a:t>
            </a:r>
            <a:r>
              <a:rPr lang="ko-KR" altLang="ko-KR" dirty="0"/>
              <a:t> </a:t>
            </a:r>
            <a:r>
              <a:rPr lang="ko-KR" altLang="ko-KR" dirty="0" err="1"/>
              <a:t>the</a:t>
            </a:r>
            <a:r>
              <a:rPr lang="ko-KR" altLang="ko-KR" dirty="0"/>
              <a:t> </a:t>
            </a:r>
            <a:r>
              <a:rPr lang="ko-KR" altLang="ko-KR" dirty="0" err="1"/>
              <a:t>park</a:t>
            </a:r>
            <a:r>
              <a:rPr lang="ko-KR" altLang="ko-KR" dirty="0"/>
              <a:t> </a:t>
            </a:r>
            <a:r>
              <a:rPr lang="ko-KR" altLang="ko-KR" dirty="0" err="1"/>
              <a:t>boundary</a:t>
            </a:r>
            <a:r>
              <a:rPr lang="ko-KR" altLang="ko-KR" dirty="0"/>
              <a:t> </a:t>
            </a:r>
            <a:r>
              <a:rPr lang="ko-KR" altLang="ko-KR" dirty="0" err="1"/>
              <a:t>to</a:t>
            </a:r>
            <a:r>
              <a:rPr lang="ko-KR" altLang="ko-KR" dirty="0"/>
              <a:t> </a:t>
            </a:r>
            <a:r>
              <a:rPr lang="ko-KR" altLang="ko-KR" dirty="0" err="1"/>
              <a:t>establish</a:t>
            </a:r>
            <a:r>
              <a:rPr lang="ko-KR" altLang="ko-KR" dirty="0"/>
              <a:t> </a:t>
            </a:r>
            <a:r>
              <a:rPr lang="ko-KR" altLang="ko-KR" dirty="0" err="1"/>
              <a:t>the</a:t>
            </a:r>
            <a:r>
              <a:rPr lang="ko-KR" altLang="ko-KR" dirty="0"/>
              <a:t> </a:t>
            </a:r>
            <a:r>
              <a:rPr lang="ko-KR" altLang="ko-KR" dirty="0" err="1"/>
              <a:t>irreplaceable</a:t>
            </a:r>
            <a:r>
              <a:rPr lang="ko-KR" altLang="ko-KR" dirty="0"/>
              <a:t> </a:t>
            </a:r>
            <a:r>
              <a:rPr lang="ko-KR" altLang="ko-KR" dirty="0" err="1"/>
              <a:t>ecological</a:t>
            </a:r>
            <a:r>
              <a:rPr lang="ko-KR" altLang="ko-KR" dirty="0"/>
              <a:t> </a:t>
            </a:r>
            <a:r>
              <a:rPr lang="ko-KR" altLang="ko-KR" dirty="0" err="1"/>
              <a:t>anchor</a:t>
            </a:r>
            <a:r>
              <a:rPr lang="ko-KR" altLang="ko-KR" dirty="0"/>
              <a:t>.</a:t>
            </a:r>
          </a:p>
          <a:p>
            <a:pPr lvl="0"/>
            <a:r>
              <a:rPr lang="ko-KR" altLang="ko-KR" dirty="0"/>
              <a:t>Applied </a:t>
            </a:r>
            <a:r>
              <a:rPr lang="ko-KR" altLang="ko-KR" dirty="0" err="1"/>
              <a:t>a</a:t>
            </a:r>
            <a:r>
              <a:rPr lang="ko-KR" altLang="ko-KR" dirty="0"/>
              <a:t> 250m </a:t>
            </a:r>
            <a:r>
              <a:rPr lang="ko-KR" altLang="ko-KR" dirty="0" err="1"/>
              <a:t>buffer</a:t>
            </a:r>
            <a:r>
              <a:rPr lang="ko-KR" altLang="ko-KR" dirty="0"/>
              <a:t> </a:t>
            </a:r>
            <a:r>
              <a:rPr lang="ko-KR" altLang="ko-KR" dirty="0" err="1"/>
              <a:t>to</a:t>
            </a:r>
            <a:r>
              <a:rPr lang="ko-KR" altLang="ko-KR" dirty="0"/>
              <a:t> </a:t>
            </a:r>
            <a:r>
              <a:rPr lang="ko-KR" altLang="ko-KR" dirty="0" err="1"/>
              <a:t>define</a:t>
            </a:r>
            <a:r>
              <a:rPr lang="ko-KR" altLang="ko-KR" dirty="0"/>
              <a:t> </a:t>
            </a:r>
            <a:r>
              <a:rPr lang="ko-KR" altLang="ko-KR" dirty="0" err="1"/>
              <a:t>the</a:t>
            </a:r>
            <a:r>
              <a:rPr lang="ko-KR" altLang="ko-KR" dirty="0"/>
              <a:t> </a:t>
            </a:r>
            <a:r>
              <a:rPr lang="ko-KR" altLang="ko-KR" dirty="0" err="1"/>
              <a:t>critical</a:t>
            </a:r>
            <a:r>
              <a:rPr lang="ko-KR" altLang="ko-KR" dirty="0"/>
              <a:t> </a:t>
            </a:r>
            <a:r>
              <a:rPr lang="ko-KR" altLang="ko-KR" dirty="0" err="1"/>
              <a:t>ecotone</a:t>
            </a:r>
            <a:r>
              <a:rPr lang="ko-KR" altLang="ko-KR" dirty="0"/>
              <a:t> </a:t>
            </a:r>
            <a:r>
              <a:rPr lang="ko-KR" altLang="ko-KR" dirty="0" err="1"/>
              <a:t>zone</a:t>
            </a:r>
            <a:r>
              <a:rPr lang="ko-KR" altLang="ko-KR" dirty="0"/>
              <a:t> </a:t>
            </a:r>
            <a:r>
              <a:rPr lang="ko-KR" altLang="ko-KR" dirty="0" err="1"/>
              <a:t>for</a:t>
            </a:r>
            <a:r>
              <a:rPr lang="ko-KR" altLang="ko-KR" dirty="0"/>
              <a:t> </a:t>
            </a:r>
            <a:r>
              <a:rPr lang="ko-KR" altLang="ko-KR" dirty="0" err="1"/>
              <a:t>fungal</a:t>
            </a:r>
            <a:r>
              <a:rPr lang="ko-KR" altLang="ko-KR" dirty="0"/>
              <a:t> </a:t>
            </a:r>
            <a:r>
              <a:rPr lang="ko-KR" altLang="ko-KR" dirty="0" err="1"/>
              <a:t>network</a:t>
            </a:r>
            <a:r>
              <a:rPr lang="ko-KR" altLang="ko-KR" dirty="0"/>
              <a:t> </a:t>
            </a:r>
            <a:r>
              <a:rPr lang="ko-KR" altLang="ko-KR" dirty="0" err="1"/>
              <a:t>expansion</a:t>
            </a:r>
            <a:r>
              <a:rPr lang="ko-KR" altLang="ko-KR" dirty="0"/>
              <a:t> and </a:t>
            </a:r>
            <a:r>
              <a:rPr lang="ko-KR" altLang="ko-KR" dirty="0" err="1"/>
              <a:t>seed</a:t>
            </a:r>
            <a:r>
              <a:rPr lang="ko-KR" altLang="ko-KR" dirty="0"/>
              <a:t> </a:t>
            </a:r>
            <a:r>
              <a:rPr lang="ko-KR" altLang="ko-KR" dirty="0" err="1"/>
              <a:t>dispersal</a:t>
            </a:r>
            <a:r>
              <a:rPr lang="ko-KR" altLang="ko-KR" dirty="0"/>
              <a:t>.</a:t>
            </a:r>
          </a:p>
          <a:p>
            <a:endParaRPr lang="ko-KR" altLang="en-US" dirty="0"/>
          </a:p>
        </p:txBody>
      </p:sp>
      <p:pic>
        <p:nvPicPr>
          <p:cNvPr id="9" name="그림 8">
            <a:extLst>
              <a:ext uri="{FF2B5EF4-FFF2-40B4-BE49-F238E27FC236}">
                <a16:creationId xmlns:a16="http://schemas.microsoft.com/office/drawing/2014/main" id="{C1CD9C23-F5F5-CB02-2556-F3053E1C4608}"/>
              </a:ext>
            </a:extLst>
          </p:cNvPr>
          <p:cNvPicPr>
            <a:picLocks noChangeAspect="1"/>
          </p:cNvPicPr>
          <p:nvPr/>
        </p:nvPicPr>
        <p:blipFill>
          <a:blip r:embed="rId2"/>
          <a:stretch>
            <a:fillRect/>
          </a:stretch>
        </p:blipFill>
        <p:spPr>
          <a:xfrm>
            <a:off x="5943600" y="1849583"/>
            <a:ext cx="5835008" cy="3158834"/>
          </a:xfrm>
          <a:prstGeom prst="rect">
            <a:avLst/>
          </a:prstGeom>
        </p:spPr>
      </p:pic>
    </p:spTree>
    <p:extLst>
      <p:ext uri="{BB962C8B-B14F-4D97-AF65-F5344CB8AC3E}">
        <p14:creationId xmlns:p14="http://schemas.microsoft.com/office/powerpoint/2010/main" val="2640878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A10476-8C45-D1CF-056A-A140D071E6A7}"/>
              </a:ext>
            </a:extLst>
          </p:cNvPr>
          <p:cNvSpPr>
            <a:spLocks noGrp="1"/>
          </p:cNvSpPr>
          <p:nvPr>
            <p:ph type="title"/>
          </p:nvPr>
        </p:nvSpPr>
        <p:spPr/>
        <p:txBody>
          <a:bodyPr>
            <a:normAutofit fontScale="90000"/>
          </a:bodyPr>
          <a:lstStyle/>
          <a:p>
            <a:r>
              <a:rPr lang="ko-KR" altLang="ko-KR" b="1" dirty="0"/>
              <a:t>Target </a:t>
            </a:r>
            <a:r>
              <a:rPr lang="ko-KR" altLang="ko-KR" b="1" dirty="0" err="1"/>
              <a:t>Habitat</a:t>
            </a:r>
            <a:r>
              <a:rPr lang="ko-KR" altLang="ko-KR" b="1" dirty="0"/>
              <a:t> </a:t>
            </a:r>
            <a:r>
              <a:rPr lang="ko-KR" altLang="ko-KR" b="1" dirty="0" err="1"/>
              <a:t>Selection</a:t>
            </a:r>
            <a:r>
              <a:rPr lang="ko-KR" altLang="ko-KR" b="1" dirty="0"/>
              <a:t> &amp; Gap </a:t>
            </a:r>
            <a:r>
              <a:rPr lang="ko-KR" altLang="ko-KR" b="1" dirty="0" err="1"/>
              <a:t>Extraction</a:t>
            </a:r>
            <a:br>
              <a:rPr lang="ko-KR" altLang="ko-KR" b="1" dirty="0"/>
            </a:br>
            <a:endParaRPr lang="ko-KR" altLang="en-US" dirty="0"/>
          </a:p>
        </p:txBody>
      </p:sp>
      <p:sp>
        <p:nvSpPr>
          <p:cNvPr id="3" name="내용 개체 틀 2">
            <a:extLst>
              <a:ext uri="{FF2B5EF4-FFF2-40B4-BE49-F238E27FC236}">
                <a16:creationId xmlns:a16="http://schemas.microsoft.com/office/drawing/2014/main" id="{6D061172-5B99-7A4D-EDC0-431E55BB0340}"/>
              </a:ext>
            </a:extLst>
          </p:cNvPr>
          <p:cNvSpPr>
            <a:spLocks noGrp="1"/>
          </p:cNvSpPr>
          <p:nvPr>
            <p:ph idx="1"/>
          </p:nvPr>
        </p:nvSpPr>
        <p:spPr>
          <a:xfrm>
            <a:off x="838199" y="1825625"/>
            <a:ext cx="4838700" cy="4351338"/>
          </a:xfrm>
        </p:spPr>
        <p:txBody>
          <a:bodyPr>
            <a:normAutofit/>
          </a:bodyPr>
          <a:lstStyle/>
          <a:p>
            <a:pPr lvl="0"/>
            <a:r>
              <a:rPr lang="ko-KR" altLang="ko-KR" dirty="0" err="1"/>
              <a:t>Selected</a:t>
            </a:r>
            <a:r>
              <a:rPr lang="ko-KR" altLang="ko-KR" dirty="0"/>
              <a:t> </a:t>
            </a:r>
            <a:r>
              <a:rPr lang="ko-KR" altLang="ko-KR" dirty="0" err="1"/>
              <a:t>a</a:t>
            </a:r>
            <a:r>
              <a:rPr lang="ko-KR" altLang="ko-KR" dirty="0"/>
              <a:t> </a:t>
            </a:r>
            <a:r>
              <a:rPr lang="ko-KR" altLang="ko-KR" dirty="0" err="1"/>
              <a:t>distinct</a:t>
            </a:r>
            <a:r>
              <a:rPr lang="ko-KR" altLang="ko-KR" dirty="0"/>
              <a:t>, </a:t>
            </a:r>
            <a:r>
              <a:rPr lang="ko-KR" altLang="ko-KR" dirty="0" err="1"/>
              <a:t>ecologically</a:t>
            </a:r>
            <a:r>
              <a:rPr lang="ko-KR" altLang="ko-KR" dirty="0"/>
              <a:t> </a:t>
            </a:r>
            <a:r>
              <a:rPr lang="ko-KR" altLang="ko-KR" dirty="0" err="1"/>
              <a:t>significant</a:t>
            </a:r>
            <a:r>
              <a:rPr lang="ko-KR" altLang="ko-KR" dirty="0"/>
              <a:t> </a:t>
            </a:r>
            <a:r>
              <a:rPr lang="ko-KR" altLang="ko-KR" dirty="0" err="1"/>
              <a:t>habitat</a:t>
            </a:r>
            <a:r>
              <a:rPr lang="ko-KR" altLang="ko-KR" dirty="0"/>
              <a:t> </a:t>
            </a:r>
            <a:r>
              <a:rPr lang="ko-KR" altLang="ko-KR" dirty="0" err="1"/>
              <a:t>for</a:t>
            </a:r>
            <a:r>
              <a:rPr lang="ko-KR" altLang="ko-KR" dirty="0"/>
              <a:t> </a:t>
            </a:r>
            <a:r>
              <a:rPr lang="ko-KR" altLang="ko-KR" dirty="0" err="1"/>
              <a:t>each</a:t>
            </a:r>
            <a:r>
              <a:rPr lang="ko-KR" altLang="ko-KR" dirty="0"/>
              <a:t> </a:t>
            </a:r>
            <a:r>
              <a:rPr lang="ko-KR" altLang="ko-KR" dirty="0" err="1"/>
              <a:t>park</a:t>
            </a:r>
            <a:r>
              <a:rPr lang="ko-KR" altLang="ko-KR" dirty="0"/>
              <a:t> and </a:t>
            </a:r>
            <a:r>
              <a:rPr lang="ko-KR" altLang="ko-KR" dirty="0" err="1"/>
              <a:t>clipped</a:t>
            </a:r>
            <a:r>
              <a:rPr lang="ko-KR" altLang="ko-KR" dirty="0"/>
              <a:t> </a:t>
            </a:r>
            <a:r>
              <a:rPr lang="ko-KR" altLang="ko-KR" dirty="0" err="1"/>
              <a:t>it</a:t>
            </a:r>
            <a:r>
              <a:rPr lang="ko-KR" altLang="ko-KR" dirty="0"/>
              <a:t> </a:t>
            </a:r>
            <a:r>
              <a:rPr lang="ko-KR" altLang="ko-KR" dirty="0" err="1"/>
              <a:t>to</a:t>
            </a:r>
            <a:r>
              <a:rPr lang="ko-KR" altLang="ko-KR" dirty="0"/>
              <a:t> </a:t>
            </a:r>
            <a:r>
              <a:rPr lang="ko-KR" altLang="ko-KR" dirty="0" err="1"/>
              <a:t>the</a:t>
            </a:r>
            <a:r>
              <a:rPr lang="ko-KR" altLang="ko-KR" dirty="0"/>
              <a:t> </a:t>
            </a:r>
            <a:r>
              <a:rPr lang="ko-KR" altLang="ko-KR" dirty="0" err="1"/>
              <a:t>boundary</a:t>
            </a:r>
            <a:r>
              <a:rPr lang="ko-KR" altLang="ko-KR" dirty="0"/>
              <a:t>.</a:t>
            </a:r>
          </a:p>
          <a:p>
            <a:pPr lvl="0"/>
            <a:r>
              <a:rPr lang="ko-KR" altLang="ko-KR" dirty="0" err="1"/>
              <a:t>Subtracted</a:t>
            </a:r>
            <a:r>
              <a:rPr lang="ko-KR" altLang="ko-KR" dirty="0"/>
              <a:t> </a:t>
            </a:r>
            <a:r>
              <a:rPr lang="ko-KR" altLang="ko-KR" dirty="0" err="1"/>
              <a:t>the</a:t>
            </a:r>
            <a:r>
              <a:rPr lang="ko-KR" altLang="ko-KR" dirty="0"/>
              <a:t> </a:t>
            </a:r>
            <a:r>
              <a:rPr lang="ko-KR" altLang="ko-KR" dirty="0" err="1"/>
              <a:t>target</a:t>
            </a:r>
            <a:r>
              <a:rPr lang="ko-KR" altLang="ko-KR" dirty="0"/>
              <a:t> </a:t>
            </a:r>
            <a:r>
              <a:rPr lang="ko-KR" altLang="ko-KR" dirty="0" err="1"/>
              <a:t>habitat</a:t>
            </a:r>
            <a:r>
              <a:rPr lang="ko-KR" altLang="ko-KR" dirty="0"/>
              <a:t> </a:t>
            </a:r>
            <a:r>
              <a:rPr lang="ko-KR" altLang="ko-KR" dirty="0" err="1"/>
              <a:t>from</a:t>
            </a:r>
            <a:r>
              <a:rPr lang="ko-KR" altLang="ko-KR" dirty="0"/>
              <a:t> </a:t>
            </a:r>
            <a:r>
              <a:rPr lang="ko-KR" altLang="ko-KR" dirty="0" err="1"/>
              <a:t>the</a:t>
            </a:r>
            <a:r>
              <a:rPr lang="ko-KR" altLang="ko-KR" dirty="0"/>
              <a:t> 250m </a:t>
            </a:r>
            <a:r>
              <a:rPr lang="ko-KR" altLang="ko-KR" dirty="0" err="1"/>
              <a:t>woodland</a:t>
            </a:r>
            <a:r>
              <a:rPr lang="ko-KR" altLang="ko-KR" dirty="0"/>
              <a:t> </a:t>
            </a:r>
            <a:r>
              <a:rPr lang="ko-KR" altLang="ko-KR" dirty="0" err="1"/>
              <a:t>buffer</a:t>
            </a:r>
            <a:r>
              <a:rPr lang="ko-KR" altLang="ko-KR" dirty="0"/>
              <a:t> </a:t>
            </a:r>
            <a:r>
              <a:rPr lang="ko-KR" altLang="ko-KR" dirty="0" err="1"/>
              <a:t>to</a:t>
            </a:r>
            <a:r>
              <a:rPr lang="ko-KR" altLang="ko-KR" dirty="0"/>
              <a:t> </a:t>
            </a:r>
            <a:r>
              <a:rPr lang="ko-KR" altLang="ko-KR" dirty="0" err="1"/>
              <a:t>identify</a:t>
            </a:r>
            <a:r>
              <a:rPr lang="ko-KR" altLang="ko-KR" dirty="0"/>
              <a:t> </a:t>
            </a:r>
            <a:r>
              <a:rPr lang="ko-KR" altLang="ko-KR" dirty="0" err="1"/>
              <a:t>unoccupied</a:t>
            </a:r>
            <a:r>
              <a:rPr lang="ko-KR" altLang="ko-KR" dirty="0"/>
              <a:t> </a:t>
            </a:r>
            <a:r>
              <a:rPr lang="ko-KR" altLang="ko-KR" dirty="0" err="1"/>
              <a:t>fragmentation</a:t>
            </a:r>
            <a:r>
              <a:rPr lang="ko-KR" altLang="ko-KR" dirty="0"/>
              <a:t> </a:t>
            </a:r>
            <a:r>
              <a:rPr lang="ko-KR" altLang="ko-KR" dirty="0" err="1"/>
              <a:t>gaps</a:t>
            </a:r>
            <a:r>
              <a:rPr lang="ko-KR" altLang="ko-KR" dirty="0"/>
              <a:t>.</a:t>
            </a:r>
          </a:p>
          <a:p>
            <a:endParaRPr lang="ko-KR" altLang="en-US" dirty="0"/>
          </a:p>
        </p:txBody>
      </p:sp>
      <p:pic>
        <p:nvPicPr>
          <p:cNvPr id="5" name="그림 4">
            <a:extLst>
              <a:ext uri="{FF2B5EF4-FFF2-40B4-BE49-F238E27FC236}">
                <a16:creationId xmlns:a16="http://schemas.microsoft.com/office/drawing/2014/main" id="{635D28CB-0D06-30AA-3FC4-7A08FA299A15}"/>
              </a:ext>
            </a:extLst>
          </p:cNvPr>
          <p:cNvPicPr>
            <a:picLocks noChangeAspect="1"/>
          </p:cNvPicPr>
          <p:nvPr/>
        </p:nvPicPr>
        <p:blipFill>
          <a:blip r:embed="rId2"/>
          <a:stretch>
            <a:fillRect/>
          </a:stretch>
        </p:blipFill>
        <p:spPr>
          <a:xfrm>
            <a:off x="5676899" y="2100638"/>
            <a:ext cx="6049029" cy="3467008"/>
          </a:xfrm>
          <a:prstGeom prst="rect">
            <a:avLst/>
          </a:prstGeom>
        </p:spPr>
      </p:pic>
    </p:spTree>
    <p:extLst>
      <p:ext uri="{BB962C8B-B14F-4D97-AF65-F5344CB8AC3E}">
        <p14:creationId xmlns:p14="http://schemas.microsoft.com/office/powerpoint/2010/main" val="2012215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666150-1156-3FDE-D403-FF8E041FEAB2}"/>
              </a:ext>
            </a:extLst>
          </p:cNvPr>
          <p:cNvSpPr>
            <a:spLocks noGrp="1"/>
          </p:cNvSpPr>
          <p:nvPr>
            <p:ph type="title"/>
          </p:nvPr>
        </p:nvSpPr>
        <p:spPr/>
        <p:txBody>
          <a:bodyPr>
            <a:normAutofit fontScale="90000"/>
          </a:bodyPr>
          <a:lstStyle/>
          <a:p>
            <a:r>
              <a:rPr lang="ko-KR" altLang="ko-KR" b="1" dirty="0" err="1"/>
              <a:t>Priority</a:t>
            </a:r>
            <a:r>
              <a:rPr lang="ko-KR" altLang="ko-KR" b="1" dirty="0"/>
              <a:t> </a:t>
            </a:r>
            <a:r>
              <a:rPr lang="ko-KR" altLang="ko-KR" b="1" dirty="0" err="1"/>
              <a:t>Habitat</a:t>
            </a:r>
            <a:r>
              <a:rPr lang="ko-KR" altLang="ko-KR" b="1" dirty="0"/>
              <a:t> </a:t>
            </a:r>
            <a:r>
              <a:rPr lang="ko-KR" altLang="ko-KR" b="1" dirty="0" err="1"/>
              <a:t>Inventory</a:t>
            </a:r>
            <a:r>
              <a:rPr lang="ko-KR" altLang="ko-KR" b="1" dirty="0"/>
              <a:t> (PHI) </a:t>
            </a:r>
            <a:r>
              <a:rPr lang="ko-KR" altLang="ko-KR" b="1" dirty="0" err="1"/>
              <a:t>Overlay</a:t>
            </a:r>
            <a:br>
              <a:rPr lang="ko-KR" altLang="ko-KR" b="1" dirty="0"/>
            </a:br>
            <a:endParaRPr lang="ko-KR" altLang="en-US" dirty="0"/>
          </a:p>
        </p:txBody>
      </p:sp>
      <p:sp>
        <p:nvSpPr>
          <p:cNvPr id="3" name="내용 개체 틀 2">
            <a:extLst>
              <a:ext uri="{FF2B5EF4-FFF2-40B4-BE49-F238E27FC236}">
                <a16:creationId xmlns:a16="http://schemas.microsoft.com/office/drawing/2014/main" id="{2BB51948-174D-FDB3-2FAF-3DEB2FDAF99B}"/>
              </a:ext>
            </a:extLst>
          </p:cNvPr>
          <p:cNvSpPr>
            <a:spLocks noGrp="1"/>
          </p:cNvSpPr>
          <p:nvPr>
            <p:ph idx="1"/>
          </p:nvPr>
        </p:nvSpPr>
        <p:spPr>
          <a:xfrm>
            <a:off x="838200" y="1825625"/>
            <a:ext cx="4953000" cy="4351338"/>
          </a:xfrm>
        </p:spPr>
        <p:txBody>
          <a:bodyPr>
            <a:normAutofit/>
          </a:bodyPr>
          <a:lstStyle/>
          <a:p>
            <a:pPr lvl="0"/>
            <a:r>
              <a:rPr lang="ko-KR" altLang="ko-KR" dirty="0" err="1"/>
              <a:t>Intersected</a:t>
            </a:r>
            <a:r>
              <a:rPr lang="ko-KR" altLang="ko-KR" dirty="0"/>
              <a:t> </a:t>
            </a:r>
            <a:r>
              <a:rPr lang="ko-KR" altLang="ko-KR" dirty="0" err="1"/>
              <a:t>the</a:t>
            </a:r>
            <a:r>
              <a:rPr lang="ko-KR" altLang="ko-KR" dirty="0"/>
              <a:t> </a:t>
            </a:r>
            <a:r>
              <a:rPr lang="ko-KR" altLang="ko-KR" dirty="0" err="1"/>
              <a:t>gap</a:t>
            </a:r>
            <a:r>
              <a:rPr lang="ko-KR" altLang="ko-KR" dirty="0"/>
              <a:t> </a:t>
            </a:r>
            <a:r>
              <a:rPr lang="ko-KR" altLang="ko-KR" dirty="0" err="1"/>
              <a:t>areas</a:t>
            </a:r>
            <a:r>
              <a:rPr lang="ko-KR" altLang="ko-KR" dirty="0"/>
              <a:t> </a:t>
            </a:r>
            <a:r>
              <a:rPr lang="ko-KR" altLang="ko-KR" dirty="0" err="1"/>
              <a:t>with</a:t>
            </a:r>
            <a:r>
              <a:rPr lang="ko-KR" altLang="ko-KR" dirty="0"/>
              <a:t> </a:t>
            </a:r>
            <a:r>
              <a:rPr lang="ko-KR" altLang="ko-KR" dirty="0" err="1"/>
              <a:t>the</a:t>
            </a:r>
            <a:r>
              <a:rPr lang="ko-KR" altLang="ko-KR" dirty="0"/>
              <a:t> </a:t>
            </a:r>
            <a:r>
              <a:rPr lang="ko-KR" altLang="ko-KR" dirty="0" err="1"/>
              <a:t>Priority</a:t>
            </a:r>
            <a:r>
              <a:rPr lang="ko-KR" altLang="ko-KR" dirty="0"/>
              <a:t> </a:t>
            </a:r>
            <a:r>
              <a:rPr lang="ko-KR" altLang="ko-KR" dirty="0" err="1"/>
              <a:t>Habitat</a:t>
            </a:r>
            <a:r>
              <a:rPr lang="ko-KR" altLang="ko-KR" dirty="0"/>
              <a:t> </a:t>
            </a:r>
            <a:r>
              <a:rPr lang="ko-KR" altLang="ko-KR" dirty="0" err="1"/>
              <a:t>Inventory</a:t>
            </a:r>
            <a:r>
              <a:rPr lang="ko-KR" altLang="ko-KR" dirty="0"/>
              <a:t> </a:t>
            </a:r>
            <a:r>
              <a:rPr lang="ko-KR" altLang="ko-KR" dirty="0" err="1"/>
              <a:t>to</a:t>
            </a:r>
            <a:r>
              <a:rPr lang="ko-KR" altLang="ko-KR" dirty="0"/>
              <a:t> </a:t>
            </a:r>
            <a:r>
              <a:rPr lang="ko-KR" altLang="ko-KR" dirty="0" err="1"/>
              <a:t>isolate</a:t>
            </a:r>
            <a:r>
              <a:rPr lang="ko-KR" altLang="ko-KR" dirty="0"/>
              <a:t> </a:t>
            </a:r>
            <a:r>
              <a:rPr lang="ko-KR" altLang="ko-KR" dirty="0" err="1"/>
              <a:t>land</a:t>
            </a:r>
            <a:r>
              <a:rPr lang="ko-KR" altLang="ko-KR" dirty="0"/>
              <a:t> </a:t>
            </a:r>
            <a:r>
              <a:rPr lang="ko-KR" altLang="ko-KR" dirty="0" err="1"/>
              <a:t>parcels</a:t>
            </a:r>
            <a:r>
              <a:rPr lang="ko-KR" altLang="ko-KR" dirty="0"/>
              <a:t> </a:t>
            </a:r>
            <a:r>
              <a:rPr lang="ko-KR" altLang="ko-KR" dirty="0" err="1"/>
              <a:t>with</a:t>
            </a:r>
            <a:r>
              <a:rPr lang="ko-KR" altLang="ko-KR" dirty="0"/>
              <a:t> </a:t>
            </a:r>
            <a:r>
              <a:rPr lang="ko-KR" altLang="ko-KR" dirty="0" err="1"/>
              <a:t>verified</a:t>
            </a:r>
            <a:r>
              <a:rPr lang="ko-KR" altLang="ko-KR" dirty="0"/>
              <a:t> </a:t>
            </a:r>
            <a:r>
              <a:rPr lang="ko-KR" altLang="ko-KR" dirty="0" err="1"/>
              <a:t>restoration</a:t>
            </a:r>
            <a:r>
              <a:rPr lang="ko-KR" altLang="ko-KR" dirty="0"/>
              <a:t> </a:t>
            </a:r>
            <a:r>
              <a:rPr lang="ko-KR" altLang="ko-KR" dirty="0" err="1"/>
              <a:t>potential</a:t>
            </a:r>
            <a:r>
              <a:rPr lang="ko-KR" altLang="ko-KR" dirty="0"/>
              <a:t>.</a:t>
            </a:r>
          </a:p>
          <a:p>
            <a:pPr lvl="0"/>
            <a:r>
              <a:rPr lang="ko-KR" altLang="ko-KR" dirty="0" err="1"/>
              <a:t>Filtered</a:t>
            </a:r>
            <a:r>
              <a:rPr lang="ko-KR" altLang="ko-KR" dirty="0"/>
              <a:t> </a:t>
            </a:r>
            <a:r>
              <a:rPr lang="ko-KR" altLang="ko-KR" dirty="0" err="1"/>
              <a:t>out</a:t>
            </a:r>
            <a:r>
              <a:rPr lang="ko-KR" altLang="ko-KR" dirty="0"/>
              <a:t> </a:t>
            </a:r>
            <a:r>
              <a:rPr lang="ko-KR" altLang="ko-KR" dirty="0" err="1"/>
              <a:t>slivers</a:t>
            </a:r>
            <a:r>
              <a:rPr lang="ko-KR" altLang="ko-KR" dirty="0"/>
              <a:t> and </a:t>
            </a:r>
            <a:r>
              <a:rPr lang="ko-KR" altLang="ko-KR" dirty="0" err="1"/>
              <a:t>fragments</a:t>
            </a:r>
            <a:r>
              <a:rPr lang="ko-KR" altLang="ko-KR" dirty="0"/>
              <a:t> </a:t>
            </a:r>
            <a:r>
              <a:rPr lang="ko-KR" altLang="ko-KR" dirty="0" err="1"/>
              <a:t>smaller</a:t>
            </a:r>
            <a:r>
              <a:rPr lang="ko-KR" altLang="ko-KR" dirty="0"/>
              <a:t> </a:t>
            </a:r>
            <a:r>
              <a:rPr lang="ko-KR" altLang="ko-KR" dirty="0" err="1"/>
              <a:t>than</a:t>
            </a:r>
            <a:r>
              <a:rPr lang="ko-KR" altLang="ko-KR" dirty="0"/>
              <a:t> 0.05 </a:t>
            </a:r>
            <a:r>
              <a:rPr lang="ko-KR" altLang="ko-KR" dirty="0" err="1"/>
              <a:t>ha</a:t>
            </a:r>
            <a:r>
              <a:rPr lang="ko-KR" altLang="ko-KR" dirty="0"/>
              <a:t> (500 </a:t>
            </a:r>
            <a:r>
              <a:rPr lang="ko-KR" altLang="ko-KR" dirty="0" err="1"/>
              <a:t>sqm</a:t>
            </a:r>
            <a:r>
              <a:rPr lang="ko-KR" altLang="ko-KR" dirty="0"/>
              <a:t>) </a:t>
            </a:r>
            <a:r>
              <a:rPr lang="ko-KR" altLang="ko-KR" dirty="0" err="1"/>
              <a:t>to</a:t>
            </a:r>
            <a:r>
              <a:rPr lang="ko-KR" altLang="ko-KR" dirty="0"/>
              <a:t> </a:t>
            </a:r>
            <a:r>
              <a:rPr lang="ko-KR" altLang="ko-KR" dirty="0" err="1"/>
              <a:t>retain</a:t>
            </a:r>
            <a:r>
              <a:rPr lang="ko-KR" altLang="ko-KR" dirty="0"/>
              <a:t> </a:t>
            </a:r>
            <a:r>
              <a:rPr lang="ko-KR" altLang="ko-KR" dirty="0" err="1"/>
              <a:t>only</a:t>
            </a:r>
            <a:r>
              <a:rPr lang="ko-KR" altLang="ko-KR" dirty="0"/>
              <a:t> </a:t>
            </a:r>
            <a:r>
              <a:rPr lang="ko-KR" altLang="ko-KR" dirty="0" err="1"/>
              <a:t>viable</a:t>
            </a:r>
            <a:r>
              <a:rPr lang="ko-KR" altLang="ko-KR" dirty="0"/>
              <a:t> </a:t>
            </a:r>
            <a:r>
              <a:rPr lang="ko-KR" altLang="ko-KR" dirty="0" err="1"/>
              <a:t>patches</a:t>
            </a:r>
            <a:r>
              <a:rPr lang="ko-KR" altLang="ko-KR" dirty="0"/>
              <a:t>.</a:t>
            </a:r>
          </a:p>
          <a:p>
            <a:endParaRPr lang="ko-KR" altLang="en-US" dirty="0"/>
          </a:p>
        </p:txBody>
      </p:sp>
      <p:pic>
        <p:nvPicPr>
          <p:cNvPr id="5" name="그림 4">
            <a:extLst>
              <a:ext uri="{FF2B5EF4-FFF2-40B4-BE49-F238E27FC236}">
                <a16:creationId xmlns:a16="http://schemas.microsoft.com/office/drawing/2014/main" id="{338E7D50-A819-F293-D08F-100727C4FC79}"/>
              </a:ext>
            </a:extLst>
          </p:cNvPr>
          <p:cNvPicPr>
            <a:picLocks noChangeAspect="1"/>
          </p:cNvPicPr>
          <p:nvPr/>
        </p:nvPicPr>
        <p:blipFill>
          <a:blip r:embed="rId2"/>
          <a:stretch>
            <a:fillRect/>
          </a:stretch>
        </p:blipFill>
        <p:spPr>
          <a:xfrm>
            <a:off x="5791200" y="2057401"/>
            <a:ext cx="5809422" cy="3200400"/>
          </a:xfrm>
          <a:prstGeom prst="rect">
            <a:avLst/>
          </a:prstGeom>
        </p:spPr>
      </p:pic>
    </p:spTree>
    <p:extLst>
      <p:ext uri="{BB962C8B-B14F-4D97-AF65-F5344CB8AC3E}">
        <p14:creationId xmlns:p14="http://schemas.microsoft.com/office/powerpoint/2010/main" val="2347480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686060-42E8-9606-3169-111BD6F04B36}"/>
              </a:ext>
            </a:extLst>
          </p:cNvPr>
          <p:cNvSpPr>
            <a:spLocks noGrp="1"/>
          </p:cNvSpPr>
          <p:nvPr>
            <p:ph type="title"/>
          </p:nvPr>
        </p:nvSpPr>
        <p:spPr/>
        <p:txBody>
          <a:bodyPr/>
          <a:lstStyle/>
          <a:p>
            <a:r>
              <a:rPr lang="ko-KR" altLang="ko-KR" b="1" dirty="0" err="1"/>
              <a:t>Road</a:t>
            </a:r>
            <a:r>
              <a:rPr lang="ko-KR" altLang="ko-KR" b="1" dirty="0"/>
              <a:t> </a:t>
            </a:r>
            <a:r>
              <a:rPr lang="ko-KR" altLang="ko-KR" b="1" dirty="0" err="1"/>
              <a:t>Barrier</a:t>
            </a:r>
            <a:r>
              <a:rPr lang="ko-KR" altLang="ko-KR" b="1" dirty="0"/>
              <a:t> </a:t>
            </a:r>
            <a:r>
              <a:rPr lang="ko-KR" altLang="ko-KR" b="1" dirty="0" err="1"/>
              <a:t>Exclusion</a:t>
            </a:r>
            <a:br>
              <a:rPr lang="ko-KR" altLang="ko-KR" b="1" dirty="0"/>
            </a:br>
            <a:endParaRPr lang="ko-KR" altLang="en-US" dirty="0"/>
          </a:p>
        </p:txBody>
      </p:sp>
      <p:sp>
        <p:nvSpPr>
          <p:cNvPr id="3" name="내용 개체 틀 2">
            <a:extLst>
              <a:ext uri="{FF2B5EF4-FFF2-40B4-BE49-F238E27FC236}">
                <a16:creationId xmlns:a16="http://schemas.microsoft.com/office/drawing/2014/main" id="{59CFADD4-1AE2-EB64-F7A8-9A7CF49AEC41}"/>
              </a:ext>
            </a:extLst>
          </p:cNvPr>
          <p:cNvSpPr>
            <a:spLocks noGrp="1"/>
          </p:cNvSpPr>
          <p:nvPr>
            <p:ph idx="1"/>
          </p:nvPr>
        </p:nvSpPr>
        <p:spPr>
          <a:xfrm>
            <a:off x="838200" y="1825625"/>
            <a:ext cx="5067300" cy="4351338"/>
          </a:xfrm>
        </p:spPr>
        <p:txBody>
          <a:bodyPr>
            <a:normAutofit lnSpcReduction="10000"/>
          </a:bodyPr>
          <a:lstStyle/>
          <a:p>
            <a:pPr lvl="0"/>
            <a:r>
              <a:rPr lang="ko-KR" altLang="ko-KR" dirty="0" err="1"/>
              <a:t>Extracted</a:t>
            </a:r>
            <a:r>
              <a:rPr lang="ko-KR" altLang="ko-KR" dirty="0"/>
              <a:t> </a:t>
            </a:r>
            <a:r>
              <a:rPr lang="ko-KR" altLang="ko-KR" dirty="0" err="1"/>
              <a:t>road</a:t>
            </a:r>
            <a:r>
              <a:rPr lang="ko-KR" altLang="ko-KR" dirty="0"/>
              <a:t> </a:t>
            </a:r>
            <a:r>
              <a:rPr lang="ko-KR" altLang="ko-KR" dirty="0" err="1"/>
              <a:t>networks</a:t>
            </a:r>
            <a:r>
              <a:rPr lang="ko-KR" altLang="ko-KR" dirty="0"/>
              <a:t> </a:t>
            </a:r>
            <a:r>
              <a:rPr lang="ko-KR" altLang="ko-KR" dirty="0" err="1"/>
              <a:t>within</a:t>
            </a:r>
            <a:r>
              <a:rPr lang="ko-KR" altLang="ko-KR" dirty="0"/>
              <a:t> </a:t>
            </a:r>
            <a:r>
              <a:rPr lang="ko-KR" altLang="ko-KR" dirty="0" err="1"/>
              <a:t>the</a:t>
            </a:r>
            <a:r>
              <a:rPr lang="ko-KR" altLang="ko-KR" dirty="0"/>
              <a:t> </a:t>
            </a:r>
            <a:r>
              <a:rPr lang="ko-KR" altLang="ko-KR" dirty="0" err="1"/>
              <a:t>park</a:t>
            </a:r>
            <a:r>
              <a:rPr lang="ko-KR" altLang="ko-KR" dirty="0"/>
              <a:t> and </a:t>
            </a:r>
            <a:r>
              <a:rPr lang="ko-KR" altLang="ko-KR" dirty="0" err="1"/>
              <a:t>created</a:t>
            </a:r>
            <a:r>
              <a:rPr lang="ko-KR" altLang="ko-KR" dirty="0"/>
              <a:t> </a:t>
            </a:r>
            <a:r>
              <a:rPr lang="ko-KR" altLang="ko-KR" dirty="0" err="1"/>
              <a:t>a</a:t>
            </a:r>
            <a:r>
              <a:rPr lang="ko-KR" altLang="ko-KR" dirty="0"/>
              <a:t> 10m </a:t>
            </a:r>
            <a:r>
              <a:rPr lang="ko-KR" altLang="ko-KR" dirty="0" err="1"/>
              <a:t>buffer</a:t>
            </a:r>
            <a:r>
              <a:rPr lang="ko-KR" altLang="ko-KR" dirty="0"/>
              <a:t> </a:t>
            </a:r>
            <a:r>
              <a:rPr lang="ko-KR" altLang="ko-KR" dirty="0" err="1"/>
              <a:t>to</a:t>
            </a:r>
            <a:r>
              <a:rPr lang="ko-KR" altLang="ko-KR" dirty="0"/>
              <a:t> </a:t>
            </a:r>
            <a:r>
              <a:rPr lang="ko-KR" altLang="ko-KR" dirty="0" err="1"/>
              <a:t>model</a:t>
            </a:r>
            <a:r>
              <a:rPr lang="ko-KR" altLang="ko-KR" dirty="0"/>
              <a:t> </a:t>
            </a:r>
            <a:r>
              <a:rPr lang="ko-KR" altLang="ko-KR" dirty="0" err="1"/>
              <a:t>dispersal</a:t>
            </a:r>
            <a:r>
              <a:rPr lang="ko-KR" altLang="ko-KR" dirty="0"/>
              <a:t> </a:t>
            </a:r>
            <a:r>
              <a:rPr lang="ko-KR" altLang="ko-KR" dirty="0" err="1"/>
              <a:t>barriers</a:t>
            </a:r>
            <a:r>
              <a:rPr lang="ko-KR" altLang="ko-KR" dirty="0"/>
              <a:t> and </a:t>
            </a:r>
            <a:r>
              <a:rPr lang="ko-KR" altLang="ko-KR" dirty="0" err="1"/>
              <a:t>roadkill</a:t>
            </a:r>
            <a:r>
              <a:rPr lang="ko-KR" altLang="ko-KR" dirty="0"/>
              <a:t> </a:t>
            </a:r>
            <a:r>
              <a:rPr lang="ko-KR" altLang="ko-KR" dirty="0" err="1"/>
              <a:t>risks</a:t>
            </a:r>
            <a:r>
              <a:rPr lang="ko-KR" altLang="ko-KR" dirty="0"/>
              <a:t>.</a:t>
            </a:r>
          </a:p>
          <a:p>
            <a:pPr lvl="0"/>
            <a:r>
              <a:rPr lang="ko-KR" altLang="ko-KR" dirty="0" err="1"/>
              <a:t>Subtracted</a:t>
            </a:r>
            <a:r>
              <a:rPr lang="ko-KR" altLang="ko-KR" dirty="0"/>
              <a:t> </a:t>
            </a:r>
            <a:r>
              <a:rPr lang="ko-KR" altLang="ko-KR" dirty="0" err="1"/>
              <a:t>the</a:t>
            </a:r>
            <a:r>
              <a:rPr lang="ko-KR" altLang="ko-KR" dirty="0"/>
              <a:t> </a:t>
            </a:r>
            <a:r>
              <a:rPr lang="ko-KR" altLang="ko-KR" dirty="0" err="1"/>
              <a:t>road</a:t>
            </a:r>
            <a:r>
              <a:rPr lang="ko-KR" altLang="ko-KR" dirty="0"/>
              <a:t> </a:t>
            </a:r>
            <a:r>
              <a:rPr lang="ko-KR" altLang="ko-KR" dirty="0" err="1"/>
              <a:t>buffer</a:t>
            </a:r>
            <a:r>
              <a:rPr lang="ko-KR" altLang="ko-KR" dirty="0"/>
              <a:t> </a:t>
            </a:r>
            <a:r>
              <a:rPr lang="ko-KR" altLang="ko-KR" dirty="0" err="1"/>
              <a:t>from</a:t>
            </a:r>
            <a:r>
              <a:rPr lang="ko-KR" altLang="ko-KR" dirty="0"/>
              <a:t> </a:t>
            </a:r>
            <a:r>
              <a:rPr lang="ko-KR" altLang="ko-KR" dirty="0" err="1"/>
              <a:t>candidate</a:t>
            </a:r>
            <a:r>
              <a:rPr lang="ko-KR" altLang="ko-KR" dirty="0"/>
              <a:t> </a:t>
            </a:r>
            <a:r>
              <a:rPr lang="ko-KR" altLang="ko-KR" dirty="0" err="1"/>
              <a:t>patches</a:t>
            </a:r>
            <a:r>
              <a:rPr lang="ko-KR" altLang="ko-KR" dirty="0"/>
              <a:t> </a:t>
            </a:r>
            <a:r>
              <a:rPr lang="ko-KR" altLang="ko-KR" dirty="0" err="1"/>
              <a:t>to</a:t>
            </a:r>
            <a:r>
              <a:rPr lang="ko-KR" altLang="ko-KR" dirty="0"/>
              <a:t> </a:t>
            </a:r>
            <a:r>
              <a:rPr lang="ko-KR" altLang="ko-KR" dirty="0" err="1"/>
              <a:t>ensure</a:t>
            </a:r>
            <a:r>
              <a:rPr lang="ko-KR" altLang="ko-KR" dirty="0"/>
              <a:t> </a:t>
            </a:r>
            <a:r>
              <a:rPr lang="ko-KR" altLang="ko-KR" dirty="0" err="1"/>
              <a:t>physical</a:t>
            </a:r>
            <a:r>
              <a:rPr lang="ko-KR" altLang="ko-KR" dirty="0"/>
              <a:t> </a:t>
            </a:r>
            <a:r>
              <a:rPr lang="ko-KR" altLang="ko-KR" dirty="0" err="1"/>
              <a:t>corridor</a:t>
            </a:r>
            <a:r>
              <a:rPr lang="ko-KR" altLang="ko-KR" dirty="0"/>
              <a:t> </a:t>
            </a:r>
            <a:r>
              <a:rPr lang="ko-KR" altLang="ko-KR" dirty="0" err="1"/>
              <a:t>continuity</a:t>
            </a:r>
            <a:r>
              <a:rPr lang="ko-KR" altLang="ko-KR" dirty="0"/>
              <a:t>.</a:t>
            </a:r>
          </a:p>
          <a:p>
            <a:pPr marL="0" indent="0">
              <a:buNone/>
            </a:pPr>
            <a:br>
              <a:rPr lang="ko-KR" altLang="ko-KR" dirty="0"/>
            </a:br>
            <a:endParaRPr lang="ko-KR" altLang="en-US" dirty="0"/>
          </a:p>
        </p:txBody>
      </p:sp>
      <p:pic>
        <p:nvPicPr>
          <p:cNvPr id="5" name="그림 4">
            <a:extLst>
              <a:ext uri="{FF2B5EF4-FFF2-40B4-BE49-F238E27FC236}">
                <a16:creationId xmlns:a16="http://schemas.microsoft.com/office/drawing/2014/main" id="{F2A55B26-2459-DD60-8182-C2FEFB73A2FD}"/>
              </a:ext>
            </a:extLst>
          </p:cNvPr>
          <p:cNvPicPr>
            <a:picLocks noChangeAspect="1"/>
          </p:cNvPicPr>
          <p:nvPr/>
        </p:nvPicPr>
        <p:blipFill>
          <a:blip r:embed="rId2"/>
          <a:stretch>
            <a:fillRect/>
          </a:stretch>
        </p:blipFill>
        <p:spPr>
          <a:xfrm>
            <a:off x="5695953" y="1825625"/>
            <a:ext cx="6148662" cy="3460749"/>
          </a:xfrm>
          <a:prstGeom prst="rect">
            <a:avLst/>
          </a:prstGeom>
        </p:spPr>
      </p:pic>
    </p:spTree>
    <p:extLst>
      <p:ext uri="{BB962C8B-B14F-4D97-AF65-F5344CB8AC3E}">
        <p14:creationId xmlns:p14="http://schemas.microsoft.com/office/powerpoint/2010/main" val="1903117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97238E-0D41-737A-1685-E124AAE7FE46}"/>
              </a:ext>
            </a:extLst>
          </p:cNvPr>
          <p:cNvSpPr>
            <a:spLocks noGrp="1"/>
          </p:cNvSpPr>
          <p:nvPr>
            <p:ph type="title"/>
          </p:nvPr>
        </p:nvSpPr>
        <p:spPr/>
        <p:txBody>
          <a:bodyPr/>
          <a:lstStyle/>
          <a:p>
            <a:r>
              <a:rPr lang="ko-KR" altLang="ko-KR" b="1" dirty="0" err="1"/>
              <a:t>Centroid</a:t>
            </a:r>
            <a:r>
              <a:rPr lang="ko-KR" altLang="ko-KR" b="1" dirty="0"/>
              <a:t> </a:t>
            </a:r>
            <a:r>
              <a:rPr lang="ko-KR" altLang="ko-KR" b="1" dirty="0" err="1"/>
              <a:t>Distance</a:t>
            </a:r>
            <a:r>
              <a:rPr lang="ko-KR" altLang="ko-KR" b="1" dirty="0"/>
              <a:t> &amp; MCDA </a:t>
            </a:r>
            <a:r>
              <a:rPr lang="ko-KR" altLang="ko-KR" b="1" dirty="0" err="1"/>
              <a:t>Scoring</a:t>
            </a:r>
            <a:br>
              <a:rPr lang="ko-KR" altLang="ko-KR" b="1" dirty="0"/>
            </a:br>
            <a:endParaRPr lang="ko-KR" altLang="en-US" dirty="0"/>
          </a:p>
        </p:txBody>
      </p:sp>
      <p:sp>
        <p:nvSpPr>
          <p:cNvPr id="3" name="내용 개체 틀 2">
            <a:extLst>
              <a:ext uri="{FF2B5EF4-FFF2-40B4-BE49-F238E27FC236}">
                <a16:creationId xmlns:a16="http://schemas.microsoft.com/office/drawing/2014/main" id="{DEA1041B-63A5-C6E5-A5C8-F29E1A1A9C87}"/>
              </a:ext>
            </a:extLst>
          </p:cNvPr>
          <p:cNvSpPr>
            <a:spLocks noGrp="1"/>
          </p:cNvSpPr>
          <p:nvPr>
            <p:ph idx="1"/>
          </p:nvPr>
        </p:nvSpPr>
        <p:spPr>
          <a:xfrm>
            <a:off x="838200" y="1825625"/>
            <a:ext cx="4533900" cy="4351338"/>
          </a:xfrm>
        </p:spPr>
        <p:txBody>
          <a:bodyPr/>
          <a:lstStyle/>
          <a:p>
            <a:pPr lvl="0"/>
            <a:r>
              <a:rPr lang="ko-KR" altLang="ko-KR" dirty="0" err="1"/>
              <a:t>Calculated</a:t>
            </a:r>
            <a:r>
              <a:rPr lang="ko-KR" altLang="ko-KR" dirty="0"/>
              <a:t> </a:t>
            </a:r>
            <a:r>
              <a:rPr lang="ko-KR" altLang="ko-KR" dirty="0" err="1"/>
              <a:t>the</a:t>
            </a:r>
            <a:r>
              <a:rPr lang="ko-KR" altLang="ko-KR" dirty="0"/>
              <a:t> </a:t>
            </a:r>
            <a:r>
              <a:rPr lang="ko-KR" altLang="ko-KR" dirty="0" err="1"/>
              <a:t>shortest</a:t>
            </a:r>
            <a:r>
              <a:rPr lang="ko-KR" altLang="ko-KR" dirty="0"/>
              <a:t> </a:t>
            </a:r>
            <a:r>
              <a:rPr lang="ko-KR" altLang="ko-KR" dirty="0" err="1"/>
              <a:t>distance</a:t>
            </a:r>
            <a:r>
              <a:rPr lang="ko-KR" altLang="ko-KR" dirty="0"/>
              <a:t> </a:t>
            </a:r>
            <a:r>
              <a:rPr lang="ko-KR" altLang="ko-KR" dirty="0" err="1"/>
              <a:t>from</a:t>
            </a:r>
            <a:r>
              <a:rPr lang="ko-KR" altLang="ko-KR" dirty="0"/>
              <a:t> </a:t>
            </a:r>
            <a:r>
              <a:rPr lang="ko-KR" altLang="ko-KR" dirty="0" err="1"/>
              <a:t>candidate</a:t>
            </a:r>
            <a:r>
              <a:rPr lang="ko-KR" altLang="ko-KR" dirty="0"/>
              <a:t> </a:t>
            </a:r>
            <a:r>
              <a:rPr lang="ko-KR" altLang="ko-KR" dirty="0" err="1"/>
              <a:t>patch</a:t>
            </a:r>
            <a:r>
              <a:rPr lang="ko-KR" altLang="ko-KR" dirty="0"/>
              <a:t> </a:t>
            </a:r>
            <a:r>
              <a:rPr lang="ko-KR" altLang="ko-KR" dirty="0" err="1"/>
              <a:t>centroids</a:t>
            </a:r>
            <a:r>
              <a:rPr lang="ko-KR" altLang="ko-KR" dirty="0"/>
              <a:t> </a:t>
            </a:r>
            <a:r>
              <a:rPr lang="ko-KR" altLang="ko-KR" dirty="0" err="1"/>
              <a:t>to</a:t>
            </a:r>
            <a:r>
              <a:rPr lang="ko-KR" altLang="ko-KR" dirty="0"/>
              <a:t> </a:t>
            </a:r>
            <a:r>
              <a:rPr lang="ko-KR" altLang="ko-KR" dirty="0" err="1"/>
              <a:t>existing</a:t>
            </a:r>
            <a:r>
              <a:rPr lang="ko-KR" altLang="ko-KR" dirty="0"/>
              <a:t> </a:t>
            </a:r>
            <a:r>
              <a:rPr lang="ko-KR" altLang="ko-KR" dirty="0" err="1"/>
              <a:t>habitat</a:t>
            </a:r>
            <a:r>
              <a:rPr lang="ko-KR" altLang="ko-KR" dirty="0"/>
              <a:t> </a:t>
            </a:r>
            <a:r>
              <a:rPr lang="ko-KR" altLang="ko-KR" dirty="0" err="1"/>
              <a:t>centroids</a:t>
            </a:r>
            <a:r>
              <a:rPr lang="ko-KR" altLang="ko-KR" dirty="0"/>
              <a:t>.</a:t>
            </a:r>
          </a:p>
          <a:p>
            <a:pPr lvl="0"/>
            <a:r>
              <a:rPr lang="ko-KR" altLang="ko-KR" dirty="0" err="1"/>
              <a:t>Ranked</a:t>
            </a:r>
            <a:r>
              <a:rPr lang="ko-KR" altLang="ko-KR" dirty="0"/>
              <a:t> </a:t>
            </a:r>
            <a:r>
              <a:rPr lang="ko-KR" altLang="ko-KR" dirty="0" err="1"/>
              <a:t>patches</a:t>
            </a:r>
            <a:r>
              <a:rPr lang="ko-KR" altLang="ko-KR" dirty="0"/>
              <a:t> </a:t>
            </a:r>
            <a:r>
              <a:rPr lang="ko-KR" altLang="ko-KR" dirty="0" err="1"/>
              <a:t>using</a:t>
            </a:r>
            <a:r>
              <a:rPr lang="ko-KR" altLang="ko-KR" dirty="0"/>
              <a:t> MCDA </a:t>
            </a:r>
            <a:r>
              <a:rPr lang="ko-KR" altLang="ko-KR" dirty="0" err="1"/>
              <a:t>by</a:t>
            </a:r>
            <a:r>
              <a:rPr lang="ko-KR" altLang="ko-KR" dirty="0"/>
              <a:t> </a:t>
            </a:r>
            <a:r>
              <a:rPr lang="ko-KR" altLang="ko-KR" dirty="0" err="1"/>
              <a:t>weighting</a:t>
            </a:r>
            <a:r>
              <a:rPr lang="ko-KR" altLang="ko-KR" dirty="0"/>
              <a:t> </a:t>
            </a:r>
            <a:r>
              <a:rPr lang="ko-KR" altLang="ko-KR" dirty="0" err="1"/>
              <a:t>proximity</a:t>
            </a:r>
            <a:r>
              <a:rPr lang="ko-KR" altLang="ko-KR" dirty="0"/>
              <a:t> (50%) and </a:t>
            </a:r>
            <a:r>
              <a:rPr lang="ko-KR" altLang="ko-KR" dirty="0" err="1"/>
              <a:t>contiguous</a:t>
            </a:r>
            <a:r>
              <a:rPr lang="ko-KR" altLang="ko-KR" dirty="0"/>
              <a:t> </a:t>
            </a:r>
            <a:r>
              <a:rPr lang="ko-KR" altLang="ko-KR" dirty="0" err="1"/>
              <a:t>patch</a:t>
            </a:r>
            <a:r>
              <a:rPr lang="ko-KR" altLang="ko-KR" dirty="0"/>
              <a:t> </a:t>
            </a:r>
            <a:r>
              <a:rPr lang="ko-KR" altLang="ko-KR" dirty="0" err="1"/>
              <a:t>area</a:t>
            </a:r>
            <a:r>
              <a:rPr lang="ko-KR" altLang="ko-KR" dirty="0"/>
              <a:t> (50%).</a:t>
            </a:r>
          </a:p>
          <a:p>
            <a:endParaRPr lang="ko-KR" altLang="en-US" dirty="0"/>
          </a:p>
        </p:txBody>
      </p:sp>
      <p:pic>
        <p:nvPicPr>
          <p:cNvPr id="7" name="그림 6">
            <a:extLst>
              <a:ext uri="{FF2B5EF4-FFF2-40B4-BE49-F238E27FC236}">
                <a16:creationId xmlns:a16="http://schemas.microsoft.com/office/drawing/2014/main" id="{FBE48EE0-72B5-0AA1-61DC-1D0D0EE388EF}"/>
              </a:ext>
            </a:extLst>
          </p:cNvPr>
          <p:cNvPicPr>
            <a:picLocks noChangeAspect="1"/>
          </p:cNvPicPr>
          <p:nvPr/>
        </p:nvPicPr>
        <p:blipFill>
          <a:blip r:embed="rId2"/>
          <a:stretch>
            <a:fillRect/>
          </a:stretch>
        </p:blipFill>
        <p:spPr>
          <a:xfrm>
            <a:off x="5372100" y="1483198"/>
            <a:ext cx="6426310" cy="4351338"/>
          </a:xfrm>
          <a:prstGeom prst="rect">
            <a:avLst/>
          </a:prstGeom>
        </p:spPr>
      </p:pic>
    </p:spTree>
    <p:extLst>
      <p:ext uri="{BB962C8B-B14F-4D97-AF65-F5344CB8AC3E}">
        <p14:creationId xmlns:p14="http://schemas.microsoft.com/office/powerpoint/2010/main" val="160931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522D61-BBE2-AA87-556A-25F92B4EDE46}"/>
              </a:ext>
            </a:extLst>
          </p:cNvPr>
          <p:cNvSpPr>
            <a:spLocks noGrp="1"/>
          </p:cNvSpPr>
          <p:nvPr>
            <p:ph type="title"/>
          </p:nvPr>
        </p:nvSpPr>
        <p:spPr/>
        <p:txBody>
          <a:bodyPr/>
          <a:lstStyle/>
          <a:p>
            <a:r>
              <a:rPr lang="ko-KR" altLang="ko-KR" b="1" dirty="0" err="1"/>
              <a:t>UKHab</a:t>
            </a:r>
            <a:r>
              <a:rPr lang="ko-KR" altLang="ko-KR" b="1" dirty="0"/>
              <a:t> </a:t>
            </a:r>
            <a:r>
              <a:rPr lang="ko-KR" altLang="ko-KR" b="1" dirty="0" err="1"/>
              <a:t>Cartography</a:t>
            </a:r>
            <a:r>
              <a:rPr lang="ko-KR" altLang="ko-KR" b="1" dirty="0"/>
              <a:t> &amp; Automation</a:t>
            </a:r>
            <a:br>
              <a:rPr lang="ko-KR" altLang="ko-KR" b="1" dirty="0"/>
            </a:br>
            <a:endParaRPr lang="ko-KR" altLang="en-US" dirty="0"/>
          </a:p>
        </p:txBody>
      </p:sp>
      <p:sp>
        <p:nvSpPr>
          <p:cNvPr id="3" name="내용 개체 틀 2">
            <a:extLst>
              <a:ext uri="{FF2B5EF4-FFF2-40B4-BE49-F238E27FC236}">
                <a16:creationId xmlns:a16="http://schemas.microsoft.com/office/drawing/2014/main" id="{7A3707AC-7147-AAD2-FF75-4ED962B22E82}"/>
              </a:ext>
            </a:extLst>
          </p:cNvPr>
          <p:cNvSpPr>
            <a:spLocks noGrp="1"/>
          </p:cNvSpPr>
          <p:nvPr>
            <p:ph idx="1"/>
          </p:nvPr>
        </p:nvSpPr>
        <p:spPr>
          <a:xfrm>
            <a:off x="838200" y="1825625"/>
            <a:ext cx="4876800" cy="4351338"/>
          </a:xfrm>
        </p:spPr>
        <p:txBody>
          <a:bodyPr/>
          <a:lstStyle/>
          <a:p>
            <a:pPr lvl="0"/>
            <a:r>
              <a:rPr lang="ko-KR" altLang="ko-KR" dirty="0" err="1"/>
              <a:t>Classified</a:t>
            </a:r>
            <a:r>
              <a:rPr lang="ko-KR" altLang="ko-KR" dirty="0"/>
              <a:t> </a:t>
            </a:r>
            <a:r>
              <a:rPr lang="ko-KR" altLang="ko-KR" dirty="0" err="1"/>
              <a:t>patches</a:t>
            </a:r>
            <a:r>
              <a:rPr lang="ko-KR" altLang="ko-KR" dirty="0"/>
              <a:t> </a:t>
            </a:r>
            <a:r>
              <a:rPr lang="ko-KR" altLang="ko-KR" dirty="0" err="1"/>
              <a:t>into</a:t>
            </a:r>
            <a:r>
              <a:rPr lang="ko-KR" altLang="ko-KR" dirty="0"/>
              <a:t> 5 </a:t>
            </a:r>
            <a:r>
              <a:rPr lang="ko-KR" altLang="ko-KR" dirty="0" err="1"/>
              <a:t>priority</a:t>
            </a:r>
            <a:r>
              <a:rPr lang="ko-KR" altLang="ko-KR" dirty="0"/>
              <a:t> </a:t>
            </a:r>
            <a:r>
              <a:rPr lang="ko-KR" altLang="ko-KR" dirty="0" err="1"/>
              <a:t>tiers</a:t>
            </a:r>
            <a:r>
              <a:rPr lang="ko-KR" altLang="ko-KR" dirty="0"/>
              <a:t> (</a:t>
            </a:r>
            <a:r>
              <a:rPr lang="ko-KR" altLang="ko-KR" dirty="0" err="1"/>
              <a:t>Tier</a:t>
            </a:r>
            <a:r>
              <a:rPr lang="ko-KR" altLang="ko-KR" dirty="0"/>
              <a:t> 1–5) </a:t>
            </a:r>
            <a:r>
              <a:rPr lang="ko-KR" altLang="ko-KR" dirty="0" err="1"/>
              <a:t>via</a:t>
            </a:r>
            <a:r>
              <a:rPr lang="ko-KR" altLang="ko-KR" dirty="0"/>
              <a:t> </a:t>
            </a:r>
            <a:r>
              <a:rPr lang="ko-KR" altLang="ko-KR" dirty="0" err="1"/>
              <a:t>Jenks</a:t>
            </a:r>
            <a:r>
              <a:rPr lang="ko-KR" altLang="ko-KR" dirty="0"/>
              <a:t> </a:t>
            </a:r>
            <a:r>
              <a:rPr lang="ko-KR" altLang="ko-KR" dirty="0" err="1"/>
              <a:t>Natural</a:t>
            </a:r>
            <a:r>
              <a:rPr lang="ko-KR" altLang="ko-KR" dirty="0"/>
              <a:t> </a:t>
            </a:r>
            <a:r>
              <a:rPr lang="ko-KR" altLang="ko-KR" dirty="0" err="1"/>
              <a:t>Breaks</a:t>
            </a:r>
            <a:r>
              <a:rPr lang="ko-KR" altLang="ko-KR" dirty="0"/>
              <a:t> </a:t>
            </a:r>
            <a:r>
              <a:rPr lang="ko-KR" altLang="ko-KR" dirty="0" err="1"/>
              <a:t>using</a:t>
            </a:r>
            <a:r>
              <a:rPr lang="ko-KR" altLang="ko-KR" dirty="0"/>
              <a:t> </a:t>
            </a:r>
            <a:r>
              <a:rPr lang="ko-KR" altLang="ko-KR" dirty="0" err="1"/>
              <a:t>official</a:t>
            </a:r>
            <a:r>
              <a:rPr lang="ko-KR" altLang="ko-KR" dirty="0"/>
              <a:t> </a:t>
            </a:r>
            <a:r>
              <a:rPr lang="ko-KR" altLang="ko-KR" dirty="0" err="1"/>
              <a:t>UKHab</a:t>
            </a:r>
            <a:r>
              <a:rPr lang="ko-KR" altLang="ko-KR" dirty="0"/>
              <a:t> </a:t>
            </a:r>
            <a:r>
              <a:rPr lang="ko-KR" altLang="ko-KR" dirty="0" err="1"/>
              <a:t>color</a:t>
            </a:r>
            <a:r>
              <a:rPr lang="ko-KR" altLang="ko-KR" dirty="0"/>
              <a:t> </a:t>
            </a:r>
            <a:r>
              <a:rPr lang="ko-KR" altLang="ko-KR" dirty="0" err="1"/>
              <a:t>codes</a:t>
            </a:r>
            <a:r>
              <a:rPr lang="ko-KR" altLang="ko-KR" dirty="0"/>
              <a:t>.</a:t>
            </a:r>
          </a:p>
          <a:p>
            <a:pPr lvl="0"/>
            <a:r>
              <a:rPr lang="ko-KR" altLang="ko-KR" dirty="0"/>
              <a:t>Automated </a:t>
            </a:r>
            <a:r>
              <a:rPr lang="ko-KR" altLang="ko-KR" dirty="0" err="1"/>
              <a:t>the</a:t>
            </a:r>
            <a:r>
              <a:rPr lang="ko-KR" altLang="ko-KR" dirty="0"/>
              <a:t> </a:t>
            </a:r>
            <a:r>
              <a:rPr lang="ko-KR" altLang="ko-KR" dirty="0" err="1"/>
              <a:t>entire</a:t>
            </a:r>
            <a:r>
              <a:rPr lang="ko-KR" altLang="ko-KR" dirty="0"/>
              <a:t> </a:t>
            </a:r>
            <a:r>
              <a:rPr lang="ko-KR" altLang="ko-KR" dirty="0" err="1"/>
              <a:t>pipeline</a:t>
            </a:r>
            <a:r>
              <a:rPr lang="ko-KR" altLang="ko-KR" dirty="0"/>
              <a:t> </a:t>
            </a:r>
            <a:r>
              <a:rPr lang="ko-KR" altLang="ko-KR" dirty="0" err="1"/>
              <a:t>in</a:t>
            </a:r>
            <a:r>
              <a:rPr lang="ko-KR" altLang="ko-KR" dirty="0"/>
              <a:t> </a:t>
            </a:r>
            <a:r>
              <a:rPr lang="ko-KR" altLang="ko-KR" dirty="0" err="1"/>
              <a:t>Python</a:t>
            </a:r>
            <a:r>
              <a:rPr lang="ko-KR" altLang="ko-KR" dirty="0"/>
              <a:t> </a:t>
            </a:r>
            <a:r>
              <a:rPr lang="ko-KR" altLang="ko-KR" dirty="0" err="1"/>
              <a:t>across</a:t>
            </a:r>
            <a:r>
              <a:rPr lang="ko-KR" altLang="ko-KR" dirty="0"/>
              <a:t> </a:t>
            </a:r>
            <a:r>
              <a:rPr lang="ko-KR" altLang="ko-KR" dirty="0" err="1"/>
              <a:t>all</a:t>
            </a:r>
            <a:r>
              <a:rPr lang="ko-KR" altLang="ko-KR" dirty="0"/>
              <a:t> 10 National </a:t>
            </a:r>
            <a:r>
              <a:rPr lang="ko-KR" altLang="ko-KR" dirty="0" err="1"/>
              <a:t>Parks</a:t>
            </a:r>
            <a:r>
              <a:rPr lang="ko-KR" altLang="ko-KR" dirty="0"/>
              <a:t> </a:t>
            </a:r>
            <a:r>
              <a:rPr lang="ko-KR" altLang="ko-KR" dirty="0" err="1"/>
              <a:t>to</a:t>
            </a:r>
            <a:r>
              <a:rPr lang="ko-KR" altLang="ko-KR" dirty="0"/>
              <a:t> </a:t>
            </a:r>
            <a:r>
              <a:rPr lang="ko-KR" altLang="ko-KR" dirty="0" err="1"/>
              <a:t>generate</a:t>
            </a:r>
            <a:r>
              <a:rPr lang="ko-KR" altLang="ko-KR" dirty="0"/>
              <a:t> </a:t>
            </a:r>
            <a:r>
              <a:rPr lang="ko-KR" altLang="ko-KR" dirty="0" err="1"/>
              <a:t>standardized</a:t>
            </a:r>
            <a:r>
              <a:rPr lang="ko-KR" altLang="ko-KR" dirty="0"/>
              <a:t>, </a:t>
            </a:r>
            <a:r>
              <a:rPr lang="ko-KR" altLang="ko-KR" dirty="0" err="1"/>
              <a:t>publication-ready</a:t>
            </a:r>
            <a:r>
              <a:rPr lang="ko-KR" altLang="ko-KR" dirty="0"/>
              <a:t> </a:t>
            </a:r>
            <a:r>
              <a:rPr lang="ko-KR" altLang="ko-KR" dirty="0" err="1"/>
              <a:t>layouts</a:t>
            </a:r>
            <a:r>
              <a:rPr lang="ko-KR" altLang="ko-KR" dirty="0"/>
              <a:t>.</a:t>
            </a:r>
          </a:p>
          <a:p>
            <a:endParaRPr lang="ko-KR" altLang="en-US" dirty="0"/>
          </a:p>
        </p:txBody>
      </p:sp>
      <p:pic>
        <p:nvPicPr>
          <p:cNvPr id="5" name="그림 4">
            <a:extLst>
              <a:ext uri="{FF2B5EF4-FFF2-40B4-BE49-F238E27FC236}">
                <a16:creationId xmlns:a16="http://schemas.microsoft.com/office/drawing/2014/main" id="{CBDB1859-8386-D853-D566-E62E14BBE69A}"/>
              </a:ext>
            </a:extLst>
          </p:cNvPr>
          <p:cNvPicPr>
            <a:picLocks noChangeAspect="1"/>
          </p:cNvPicPr>
          <p:nvPr/>
        </p:nvPicPr>
        <p:blipFill>
          <a:blip r:embed="rId2"/>
          <a:stretch>
            <a:fillRect/>
          </a:stretch>
        </p:blipFill>
        <p:spPr>
          <a:xfrm>
            <a:off x="5715000" y="1825625"/>
            <a:ext cx="5919692" cy="3721799"/>
          </a:xfrm>
          <a:prstGeom prst="rect">
            <a:avLst/>
          </a:prstGeom>
        </p:spPr>
      </p:pic>
    </p:spTree>
    <p:extLst>
      <p:ext uri="{BB962C8B-B14F-4D97-AF65-F5344CB8AC3E}">
        <p14:creationId xmlns:p14="http://schemas.microsoft.com/office/powerpoint/2010/main" val="55239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0483C400-0884-3B14-0A6E-E7E47AE5B3CC}"/>
              </a:ext>
            </a:extLst>
          </p:cNvPr>
          <p:cNvSpPr>
            <a:spLocks noGrp="1"/>
          </p:cNvSpPr>
          <p:nvPr>
            <p:ph idx="1"/>
          </p:nvPr>
        </p:nvSpPr>
        <p:spPr>
          <a:xfrm>
            <a:off x="685800" y="1238250"/>
            <a:ext cx="10820400" cy="5205413"/>
          </a:xfrm>
        </p:spPr>
        <p:txBody>
          <a:bodyPr/>
          <a:lstStyle/>
          <a:p>
            <a:pPr lvl="0"/>
            <a:r>
              <a:rPr lang="ko-KR" altLang="ko-KR" dirty="0" err="1"/>
              <a:t>A</a:t>
            </a:r>
            <a:r>
              <a:rPr lang="ko-KR" altLang="ko-KR" dirty="0"/>
              <a:t> </a:t>
            </a:r>
            <a:r>
              <a:rPr lang="ko-KR" altLang="ko-KR" b="1" dirty="0" err="1"/>
              <a:t>Weighted</a:t>
            </a:r>
            <a:r>
              <a:rPr lang="ko-KR" altLang="ko-KR" b="1" dirty="0"/>
              <a:t> </a:t>
            </a:r>
            <a:r>
              <a:rPr lang="ko-KR" altLang="ko-KR" b="1" dirty="0" err="1"/>
              <a:t>Linear</a:t>
            </a:r>
            <a:r>
              <a:rPr lang="ko-KR" altLang="ko-KR" b="1" dirty="0"/>
              <a:t> </a:t>
            </a:r>
            <a:r>
              <a:rPr lang="ko-KR" altLang="ko-KR" b="1" dirty="0" err="1"/>
              <a:t>Combination</a:t>
            </a:r>
            <a:r>
              <a:rPr lang="ko-KR" altLang="ko-KR" b="1" dirty="0"/>
              <a:t> (WLC)</a:t>
            </a:r>
            <a:r>
              <a:rPr lang="ko-KR" altLang="ko-KR" dirty="0"/>
              <a:t> </a:t>
            </a:r>
            <a:r>
              <a:rPr lang="ko-KR" altLang="ko-KR" dirty="0" err="1"/>
              <a:t>model</a:t>
            </a:r>
            <a:r>
              <a:rPr lang="ko-KR" altLang="ko-KR" dirty="0"/>
              <a:t> </a:t>
            </a:r>
            <a:r>
              <a:rPr lang="ko-KR" altLang="ko-KR" dirty="0" err="1"/>
              <a:t>was</a:t>
            </a:r>
            <a:r>
              <a:rPr lang="ko-KR" altLang="ko-KR" dirty="0"/>
              <a:t> </a:t>
            </a:r>
            <a:r>
              <a:rPr lang="ko-KR" altLang="ko-KR" dirty="0" err="1"/>
              <a:t>applied</a:t>
            </a:r>
            <a:r>
              <a:rPr lang="ko-KR" altLang="ko-KR" dirty="0"/>
              <a:t> </a:t>
            </a:r>
            <a:r>
              <a:rPr lang="ko-KR" altLang="ko-KR" dirty="0" err="1"/>
              <a:t>to</a:t>
            </a:r>
            <a:r>
              <a:rPr lang="ko-KR" altLang="ko-KR" dirty="0"/>
              <a:t> </a:t>
            </a:r>
            <a:r>
              <a:rPr lang="ko-KR" altLang="ko-KR" dirty="0" err="1"/>
              <a:t>balance</a:t>
            </a:r>
            <a:r>
              <a:rPr lang="ko-KR" altLang="ko-KR" dirty="0"/>
              <a:t> </a:t>
            </a:r>
            <a:r>
              <a:rPr lang="ko-KR" altLang="ko-KR" dirty="0" err="1"/>
              <a:t>ecological</a:t>
            </a:r>
            <a:r>
              <a:rPr lang="ko-KR" altLang="ko-KR" dirty="0"/>
              <a:t> </a:t>
            </a:r>
            <a:r>
              <a:rPr lang="ko-KR" altLang="ko-KR" dirty="0" err="1"/>
              <a:t>efficacy</a:t>
            </a:r>
            <a:r>
              <a:rPr lang="ko-KR" altLang="ko-KR" dirty="0"/>
              <a:t> (</a:t>
            </a:r>
            <a:r>
              <a:rPr lang="ko-KR" altLang="ko-KR" dirty="0" err="1"/>
              <a:t>proximity</a:t>
            </a:r>
            <a:r>
              <a:rPr lang="ko-KR" altLang="ko-KR" dirty="0"/>
              <a:t>) and </a:t>
            </a:r>
            <a:r>
              <a:rPr lang="ko-KR" altLang="ko-KR" dirty="0" err="1"/>
              <a:t>land</a:t>
            </a:r>
            <a:r>
              <a:rPr lang="ko-KR" altLang="ko-KR" dirty="0"/>
              <a:t> </a:t>
            </a:r>
            <a:r>
              <a:rPr lang="ko-KR" altLang="ko-KR" dirty="0" err="1"/>
              <a:t>investment</a:t>
            </a:r>
            <a:r>
              <a:rPr lang="ko-KR" altLang="ko-KR" dirty="0"/>
              <a:t> </a:t>
            </a:r>
            <a:r>
              <a:rPr lang="ko-KR" altLang="ko-KR" dirty="0" err="1"/>
              <a:t>scale</a:t>
            </a:r>
            <a:r>
              <a:rPr lang="ko-KR" altLang="ko-KR" dirty="0"/>
              <a:t> (</a:t>
            </a:r>
            <a:r>
              <a:rPr lang="ko-KR" altLang="ko-KR" dirty="0" err="1"/>
              <a:t>area</a:t>
            </a:r>
            <a:r>
              <a:rPr lang="ko-KR" altLang="ko-KR" dirty="0"/>
              <a:t>):</a:t>
            </a:r>
            <a:endParaRPr lang="en-US" altLang="ko-KR" dirty="0"/>
          </a:p>
          <a:p>
            <a:pPr lvl="0"/>
            <a:endParaRPr lang="ko-KR" altLang="ko-KR" dirty="0"/>
          </a:p>
          <a:p>
            <a:pPr lvl="1"/>
            <a:r>
              <a:rPr lang="ko-KR" altLang="ko-KR" b="1" dirty="0" err="1"/>
              <a:t>Proximity</a:t>
            </a:r>
            <a:r>
              <a:rPr lang="ko-KR" altLang="ko-KR" b="1" dirty="0"/>
              <a:t> </a:t>
            </a:r>
            <a:r>
              <a:rPr lang="ko-KR" altLang="ko-KR" b="1" dirty="0" err="1"/>
              <a:t>Score</a:t>
            </a:r>
            <a:r>
              <a:rPr lang="ko-KR" altLang="ko-KR" dirty="0"/>
              <a:t> = 1 - (</a:t>
            </a:r>
            <a:r>
              <a:rPr lang="ko-KR" altLang="ko-KR" dirty="0" err="1"/>
              <a:t>d</a:t>
            </a:r>
            <a:r>
              <a:rPr lang="ko-KR" altLang="ko-KR" dirty="0"/>
              <a:t> / </a:t>
            </a:r>
            <a:r>
              <a:rPr lang="ko-KR" altLang="ko-KR" dirty="0" err="1"/>
              <a:t>d</a:t>
            </a:r>
            <a:r>
              <a:rPr lang="ko-KR" altLang="ko-KR" dirty="0"/>
              <a:t>_{</a:t>
            </a:r>
            <a:r>
              <a:rPr lang="ko-KR" altLang="ko-KR" dirty="0" err="1"/>
              <a:t>max</a:t>
            </a:r>
            <a:r>
              <a:rPr lang="ko-KR" altLang="ko-KR" dirty="0"/>
              <a:t>}) </a:t>
            </a:r>
            <a:r>
              <a:rPr lang="ko-KR" altLang="ko-KR" i="1" dirty="0"/>
              <a:t>(</a:t>
            </a:r>
            <a:r>
              <a:rPr lang="ko-KR" altLang="ko-KR" i="1" dirty="0" err="1"/>
              <a:t>Higher</a:t>
            </a:r>
            <a:r>
              <a:rPr lang="ko-KR" altLang="ko-KR" i="1" dirty="0"/>
              <a:t> </a:t>
            </a:r>
            <a:r>
              <a:rPr lang="ko-KR" altLang="ko-KR" i="1" dirty="0" err="1"/>
              <a:t>for</a:t>
            </a:r>
            <a:r>
              <a:rPr lang="ko-KR" altLang="ko-KR" i="1" dirty="0"/>
              <a:t> </a:t>
            </a:r>
            <a:r>
              <a:rPr lang="ko-KR" altLang="ko-KR" i="1" dirty="0" err="1"/>
              <a:t>patches</a:t>
            </a:r>
            <a:r>
              <a:rPr lang="ko-KR" altLang="ko-KR" i="1" dirty="0"/>
              <a:t> </a:t>
            </a:r>
            <a:r>
              <a:rPr lang="ko-KR" altLang="ko-KR" i="1" dirty="0" err="1"/>
              <a:t>closer</a:t>
            </a:r>
            <a:r>
              <a:rPr lang="ko-KR" altLang="ko-KR" i="1" dirty="0"/>
              <a:t> </a:t>
            </a:r>
            <a:r>
              <a:rPr lang="ko-KR" altLang="ko-KR" i="1" dirty="0" err="1"/>
              <a:t>to</a:t>
            </a:r>
            <a:r>
              <a:rPr lang="ko-KR" altLang="ko-KR" i="1" dirty="0"/>
              <a:t> </a:t>
            </a:r>
            <a:r>
              <a:rPr lang="ko-KR" altLang="ko-KR" i="1" dirty="0" err="1"/>
              <a:t>existing</a:t>
            </a:r>
            <a:r>
              <a:rPr lang="ko-KR" altLang="ko-KR" i="1" dirty="0"/>
              <a:t> </a:t>
            </a:r>
            <a:r>
              <a:rPr lang="ko-KR" altLang="ko-KR" i="1" dirty="0" err="1"/>
              <a:t>habitat</a:t>
            </a:r>
            <a:r>
              <a:rPr lang="ko-KR" altLang="ko-KR" i="1" dirty="0"/>
              <a:t>)</a:t>
            </a:r>
            <a:endParaRPr lang="ko-KR" altLang="ko-KR" dirty="0"/>
          </a:p>
          <a:p>
            <a:pPr lvl="1"/>
            <a:r>
              <a:rPr lang="ko-KR" altLang="ko-KR" b="1" dirty="0" err="1"/>
              <a:t>Area</a:t>
            </a:r>
            <a:r>
              <a:rPr lang="ko-KR" altLang="ko-KR" b="1" dirty="0"/>
              <a:t> </a:t>
            </a:r>
            <a:r>
              <a:rPr lang="ko-KR" altLang="ko-KR" b="1" dirty="0" err="1"/>
              <a:t>Score</a:t>
            </a:r>
            <a:r>
              <a:rPr lang="ko-KR" altLang="ko-KR" dirty="0"/>
              <a:t> = </a:t>
            </a:r>
            <a:r>
              <a:rPr lang="ko-KR" altLang="ko-KR" dirty="0" err="1"/>
              <a:t>Area</a:t>
            </a:r>
            <a:r>
              <a:rPr lang="ko-KR" altLang="ko-KR" dirty="0"/>
              <a:t> / </a:t>
            </a:r>
            <a:r>
              <a:rPr lang="ko-KR" altLang="ko-KR" dirty="0" err="1"/>
              <a:t>Area</a:t>
            </a:r>
            <a:r>
              <a:rPr lang="ko-KR" altLang="ko-KR" dirty="0"/>
              <a:t>_{</a:t>
            </a:r>
            <a:r>
              <a:rPr lang="ko-KR" altLang="ko-KR" dirty="0" err="1"/>
              <a:t>max</a:t>
            </a:r>
            <a:r>
              <a:rPr lang="ko-KR" altLang="ko-KR" dirty="0"/>
              <a:t>} </a:t>
            </a:r>
            <a:r>
              <a:rPr lang="ko-KR" altLang="ko-KR" i="1" dirty="0"/>
              <a:t>(</a:t>
            </a:r>
            <a:r>
              <a:rPr lang="ko-KR" altLang="ko-KR" i="1" dirty="0" err="1"/>
              <a:t>Higher</a:t>
            </a:r>
            <a:r>
              <a:rPr lang="ko-KR" altLang="ko-KR" i="1" dirty="0"/>
              <a:t> </a:t>
            </a:r>
            <a:r>
              <a:rPr lang="ko-KR" altLang="ko-KR" i="1" dirty="0" err="1"/>
              <a:t>for</a:t>
            </a:r>
            <a:r>
              <a:rPr lang="ko-KR" altLang="ko-KR" i="1" dirty="0"/>
              <a:t> </a:t>
            </a:r>
            <a:r>
              <a:rPr lang="ko-KR" altLang="ko-KR" i="1" dirty="0" err="1"/>
              <a:t>larger</a:t>
            </a:r>
            <a:r>
              <a:rPr lang="ko-KR" altLang="ko-KR" i="1" dirty="0"/>
              <a:t> </a:t>
            </a:r>
            <a:r>
              <a:rPr lang="ko-KR" altLang="ko-KR" i="1" dirty="0" err="1"/>
              <a:t>contiguous</a:t>
            </a:r>
            <a:r>
              <a:rPr lang="ko-KR" altLang="ko-KR" i="1" dirty="0"/>
              <a:t> </a:t>
            </a:r>
            <a:r>
              <a:rPr lang="ko-KR" altLang="ko-KR" i="1" dirty="0" err="1"/>
              <a:t>patches</a:t>
            </a:r>
            <a:r>
              <a:rPr lang="ko-KR" altLang="ko-KR" i="1" dirty="0"/>
              <a:t>)</a:t>
            </a:r>
            <a:endParaRPr lang="ko-KR" altLang="ko-KR" dirty="0"/>
          </a:p>
          <a:p>
            <a:pPr lvl="1"/>
            <a:r>
              <a:rPr lang="ko-KR" altLang="ko-KR" b="1" dirty="0" err="1"/>
              <a:t>Final</a:t>
            </a:r>
            <a:r>
              <a:rPr lang="ko-KR" altLang="ko-KR" b="1" dirty="0"/>
              <a:t> </a:t>
            </a:r>
            <a:r>
              <a:rPr lang="ko-KR" altLang="ko-KR" b="1" dirty="0" err="1"/>
              <a:t>Composite</a:t>
            </a:r>
            <a:r>
              <a:rPr lang="ko-KR" altLang="ko-KR" b="1" dirty="0"/>
              <a:t> </a:t>
            </a:r>
            <a:r>
              <a:rPr lang="ko-KR" altLang="ko-KR" b="1" dirty="0" err="1"/>
              <a:t>Score</a:t>
            </a:r>
            <a:r>
              <a:rPr lang="ko-KR" altLang="ko-KR" dirty="0"/>
              <a:t> = (0.5 </a:t>
            </a:r>
            <a:r>
              <a:rPr lang="en-US" altLang="ko-KR" dirty="0"/>
              <a:t>x </a:t>
            </a:r>
            <a:r>
              <a:rPr lang="ko-KR" altLang="ko-KR" dirty="0"/>
              <a:t>{</a:t>
            </a:r>
            <a:r>
              <a:rPr lang="ko-KR" altLang="ko-KR" dirty="0" err="1"/>
              <a:t>Proximity</a:t>
            </a:r>
            <a:r>
              <a:rPr lang="ko-KR" altLang="ko-KR" dirty="0"/>
              <a:t> </a:t>
            </a:r>
            <a:r>
              <a:rPr lang="ko-KR" altLang="ko-KR" dirty="0" err="1"/>
              <a:t>Score</a:t>
            </a:r>
            <a:r>
              <a:rPr lang="ko-KR" altLang="ko-KR" dirty="0"/>
              <a:t>}) + (0.5 </a:t>
            </a:r>
            <a:r>
              <a:rPr lang="en-US" altLang="ko-KR" dirty="0"/>
              <a:t>x </a:t>
            </a:r>
            <a:r>
              <a:rPr lang="ko-KR" altLang="ko-KR" dirty="0"/>
              <a:t>{</a:t>
            </a:r>
            <a:r>
              <a:rPr lang="ko-KR" altLang="ko-KR" dirty="0" err="1"/>
              <a:t>Area</a:t>
            </a:r>
            <a:r>
              <a:rPr lang="ko-KR" altLang="ko-KR" dirty="0"/>
              <a:t> </a:t>
            </a:r>
            <a:r>
              <a:rPr lang="ko-KR" altLang="ko-KR" dirty="0" err="1"/>
              <a:t>Score</a:t>
            </a:r>
            <a:r>
              <a:rPr lang="ko-KR" altLang="ko-KR" dirty="0"/>
              <a:t>})</a:t>
            </a:r>
          </a:p>
          <a:p>
            <a:endParaRPr lang="ko-KR" altLang="en-US" dirty="0"/>
          </a:p>
        </p:txBody>
      </p:sp>
    </p:spTree>
    <p:extLst>
      <p:ext uri="{BB962C8B-B14F-4D97-AF65-F5344CB8AC3E}">
        <p14:creationId xmlns:p14="http://schemas.microsoft.com/office/powerpoint/2010/main" val="428061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100B578-02EC-94EA-6FE9-61BE20015CE8}"/>
              </a:ext>
            </a:extLst>
          </p:cNvPr>
          <p:cNvSpPr>
            <a:spLocks noGrp="1"/>
          </p:cNvSpPr>
          <p:nvPr>
            <p:ph type="title"/>
          </p:nvPr>
        </p:nvSpPr>
        <p:spPr/>
        <p:txBody>
          <a:bodyPr/>
          <a:lstStyle/>
          <a:p>
            <a:r>
              <a:rPr lang="en-US" altLang="ko-KR" b="1" dirty="0"/>
              <a:t>Data S</a:t>
            </a:r>
            <a:r>
              <a:rPr lang="ko-KR" altLang="ko-KR" b="1" dirty="0" err="1"/>
              <a:t>o</a:t>
            </a:r>
            <a:r>
              <a:rPr lang="en-US" altLang="ko-KR" b="1" dirty="0" err="1"/>
              <a:t>urces</a:t>
            </a:r>
            <a:r>
              <a:rPr lang="en-US" altLang="ko-KR" b="1" dirty="0"/>
              <a:t> Used</a:t>
            </a:r>
            <a:endParaRPr lang="ko-KR" altLang="en-US" dirty="0"/>
          </a:p>
        </p:txBody>
      </p:sp>
      <p:sp>
        <p:nvSpPr>
          <p:cNvPr id="3" name="내용 개체 틀 2">
            <a:extLst>
              <a:ext uri="{FF2B5EF4-FFF2-40B4-BE49-F238E27FC236}">
                <a16:creationId xmlns:a16="http://schemas.microsoft.com/office/drawing/2014/main" id="{43438179-21D1-A8F5-818E-1D2B401A3363}"/>
              </a:ext>
            </a:extLst>
          </p:cNvPr>
          <p:cNvSpPr>
            <a:spLocks noGrp="1"/>
          </p:cNvSpPr>
          <p:nvPr>
            <p:ph idx="1"/>
          </p:nvPr>
        </p:nvSpPr>
        <p:spPr/>
        <p:txBody>
          <a:bodyPr/>
          <a:lstStyle/>
          <a:p>
            <a:r>
              <a:rPr lang="ko-KR" altLang="ko-KR" dirty="0" err="1"/>
              <a:t>Natural</a:t>
            </a:r>
            <a:r>
              <a:rPr lang="ko-KR" altLang="ko-KR" dirty="0"/>
              <a:t> </a:t>
            </a:r>
            <a:r>
              <a:rPr lang="ko-KR" altLang="ko-KR" dirty="0" err="1"/>
              <a:t>England</a:t>
            </a:r>
            <a:r>
              <a:rPr lang="ko-KR" altLang="ko-KR" dirty="0"/>
              <a:t> </a:t>
            </a:r>
            <a:r>
              <a:rPr lang="ko-KR" altLang="ko-KR" dirty="0" err="1"/>
              <a:t>Ancient</a:t>
            </a:r>
            <a:r>
              <a:rPr lang="ko-KR" altLang="ko-KR" dirty="0"/>
              <a:t> </a:t>
            </a:r>
            <a:r>
              <a:rPr lang="ko-KR" altLang="ko-KR" dirty="0" err="1"/>
              <a:t>Woodland</a:t>
            </a:r>
            <a:r>
              <a:rPr lang="ko-KR" altLang="ko-KR" dirty="0"/>
              <a:t> </a:t>
            </a:r>
            <a:r>
              <a:rPr lang="ko-KR" altLang="ko-KR" dirty="0" err="1"/>
              <a:t>Inventory</a:t>
            </a:r>
            <a:r>
              <a:rPr lang="ko-KR" altLang="ko-KR" dirty="0"/>
              <a:t> (</a:t>
            </a:r>
            <a:r>
              <a:rPr lang="ko-KR" altLang="ko-KR" dirty="0" err="1"/>
              <a:t>England</a:t>
            </a:r>
            <a:r>
              <a:rPr lang="ko-KR" altLang="ko-KR" dirty="0"/>
              <a:t>) &amp; National </a:t>
            </a:r>
            <a:r>
              <a:rPr lang="ko-KR" altLang="ko-KR" dirty="0" err="1"/>
              <a:t>Parks</a:t>
            </a:r>
            <a:r>
              <a:rPr lang="ko-KR" altLang="ko-KR" dirty="0"/>
              <a:t> </a:t>
            </a:r>
            <a:r>
              <a:rPr lang="ko-KR" altLang="ko-KR" dirty="0" err="1"/>
              <a:t>Boundaries</a:t>
            </a:r>
            <a:endParaRPr lang="en-US" altLang="ko-KR" dirty="0"/>
          </a:p>
          <a:p>
            <a:r>
              <a:rPr lang="ko-KR" altLang="ko-KR" dirty="0" err="1"/>
              <a:t>Natural</a:t>
            </a:r>
            <a:r>
              <a:rPr lang="ko-KR" altLang="ko-KR" dirty="0"/>
              <a:t> </a:t>
            </a:r>
            <a:r>
              <a:rPr lang="ko-KR" altLang="ko-KR" dirty="0" err="1"/>
              <a:t>England</a:t>
            </a:r>
            <a:r>
              <a:rPr lang="ko-KR" altLang="ko-KR" dirty="0"/>
              <a:t> </a:t>
            </a:r>
            <a:r>
              <a:rPr lang="ko-KR" altLang="ko-KR" dirty="0" err="1"/>
              <a:t>Habitat</a:t>
            </a:r>
            <a:r>
              <a:rPr lang="ko-KR" altLang="ko-KR" dirty="0"/>
              <a:t> Networks (</a:t>
            </a:r>
            <a:r>
              <a:rPr lang="ko-KR" altLang="ko-KR" dirty="0" err="1"/>
              <a:t>Individual</a:t>
            </a:r>
            <a:r>
              <a:rPr lang="ko-KR" altLang="ko-KR" dirty="0"/>
              <a:t> </a:t>
            </a:r>
            <a:r>
              <a:rPr lang="ko-KR" altLang="ko-KR" dirty="0" err="1"/>
              <a:t>England</a:t>
            </a:r>
            <a:r>
              <a:rPr lang="ko-KR" altLang="ko-KR" dirty="0"/>
              <a:t>)</a:t>
            </a:r>
            <a:endParaRPr lang="en-US" altLang="ko-KR" dirty="0"/>
          </a:p>
          <a:p>
            <a:r>
              <a:rPr lang="ko-KR" altLang="ko-KR" dirty="0" err="1"/>
              <a:t>Natural</a:t>
            </a:r>
            <a:r>
              <a:rPr lang="ko-KR" altLang="ko-KR" dirty="0"/>
              <a:t> </a:t>
            </a:r>
            <a:r>
              <a:rPr lang="ko-KR" altLang="ko-KR" dirty="0" err="1"/>
              <a:t>England</a:t>
            </a:r>
            <a:r>
              <a:rPr lang="ko-KR" altLang="ko-KR" dirty="0"/>
              <a:t> </a:t>
            </a:r>
            <a:r>
              <a:rPr lang="ko-KR" altLang="ko-KR" dirty="0" err="1"/>
              <a:t>Priority</a:t>
            </a:r>
            <a:r>
              <a:rPr lang="ko-KR" altLang="ko-KR" dirty="0"/>
              <a:t> </a:t>
            </a:r>
            <a:r>
              <a:rPr lang="ko-KR" altLang="ko-KR" dirty="0" err="1"/>
              <a:t>Habitat</a:t>
            </a:r>
            <a:r>
              <a:rPr lang="ko-KR" altLang="ko-KR" dirty="0"/>
              <a:t> </a:t>
            </a:r>
            <a:r>
              <a:rPr lang="ko-KR" altLang="ko-KR" dirty="0" err="1"/>
              <a:t>Inventory</a:t>
            </a:r>
            <a:r>
              <a:rPr lang="ko-KR" altLang="ko-KR" dirty="0"/>
              <a:t> (PHI) </a:t>
            </a:r>
            <a:r>
              <a:rPr lang="ko-KR" altLang="ko-KR" dirty="0" err="1"/>
              <a:t>Full</a:t>
            </a:r>
            <a:r>
              <a:rPr lang="ko-KR" altLang="ko-KR" dirty="0"/>
              <a:t> </a:t>
            </a:r>
            <a:r>
              <a:rPr lang="ko-KR" altLang="ko-KR" dirty="0" err="1"/>
              <a:t>Dataset</a:t>
            </a:r>
            <a:endParaRPr lang="en-US" altLang="ko-KR" dirty="0"/>
          </a:p>
          <a:p>
            <a:r>
              <a:rPr lang="ko-KR" altLang="ko-KR" dirty="0" err="1"/>
              <a:t>Ordnance</a:t>
            </a:r>
            <a:r>
              <a:rPr lang="ko-KR" altLang="ko-KR" dirty="0"/>
              <a:t> </a:t>
            </a:r>
            <a:r>
              <a:rPr lang="ko-KR" altLang="ko-KR" dirty="0" err="1"/>
              <a:t>Survey</a:t>
            </a:r>
            <a:r>
              <a:rPr lang="ko-KR" altLang="ko-KR" dirty="0"/>
              <a:t> (OS) </a:t>
            </a:r>
            <a:r>
              <a:rPr lang="ko-KR" altLang="ko-KR" dirty="0" err="1"/>
              <a:t>Open</a:t>
            </a:r>
            <a:r>
              <a:rPr lang="ko-KR" altLang="ko-KR" dirty="0"/>
              <a:t> </a:t>
            </a:r>
            <a:r>
              <a:rPr lang="ko-KR" altLang="ko-KR" dirty="0" err="1"/>
              <a:t>Roads</a:t>
            </a:r>
            <a:r>
              <a:rPr lang="ko-KR" altLang="ko-KR" dirty="0"/>
              <a:t> GB</a:t>
            </a:r>
            <a:endParaRPr lang="en-US" altLang="ko-KR" dirty="0"/>
          </a:p>
          <a:p>
            <a:endParaRPr lang="en-US" altLang="ko-KR" dirty="0"/>
          </a:p>
          <a:p>
            <a:endParaRPr lang="ko-KR" altLang="en-US" dirty="0"/>
          </a:p>
        </p:txBody>
      </p:sp>
    </p:spTree>
    <p:extLst>
      <p:ext uri="{BB962C8B-B14F-4D97-AF65-F5344CB8AC3E}">
        <p14:creationId xmlns:p14="http://schemas.microsoft.com/office/powerpoint/2010/main" val="769331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E48E61-37FC-9246-8AF6-9B381B4014FC}"/>
              </a:ext>
            </a:extLst>
          </p:cNvPr>
          <p:cNvSpPr>
            <a:spLocks noGrp="1"/>
          </p:cNvSpPr>
          <p:nvPr>
            <p:ph type="title"/>
          </p:nvPr>
        </p:nvSpPr>
        <p:spPr/>
        <p:txBody>
          <a:bodyPr/>
          <a:lstStyle/>
          <a:p>
            <a:r>
              <a:rPr lang="en-US" altLang="ko-KR" b="1" dirty="0"/>
              <a:t>Reference</a:t>
            </a:r>
            <a:endParaRPr lang="ko-KR" altLang="en-US" dirty="0"/>
          </a:p>
        </p:txBody>
      </p:sp>
      <p:sp>
        <p:nvSpPr>
          <p:cNvPr id="3" name="내용 개체 틀 2">
            <a:extLst>
              <a:ext uri="{FF2B5EF4-FFF2-40B4-BE49-F238E27FC236}">
                <a16:creationId xmlns:a16="http://schemas.microsoft.com/office/drawing/2014/main" id="{AC248C16-7C73-3A85-9A2B-902B8C7B6FFD}"/>
              </a:ext>
            </a:extLst>
          </p:cNvPr>
          <p:cNvSpPr>
            <a:spLocks noGrp="1"/>
          </p:cNvSpPr>
          <p:nvPr>
            <p:ph idx="1"/>
          </p:nvPr>
        </p:nvSpPr>
        <p:spPr/>
        <p:txBody>
          <a:bodyPr/>
          <a:lstStyle/>
          <a:p>
            <a:r>
              <a:rPr lang="ko-KR" altLang="ko-KR" i="1" u="sng" dirty="0" err="1">
                <a:hlinkClick r:id="rId2"/>
              </a:rPr>
              <a:t>Natural</a:t>
            </a:r>
            <a:r>
              <a:rPr lang="ko-KR" altLang="ko-KR" i="1" u="sng" dirty="0">
                <a:hlinkClick r:id="rId2"/>
              </a:rPr>
              <a:t> </a:t>
            </a:r>
            <a:r>
              <a:rPr lang="ko-KR" altLang="ko-KR" i="1" u="sng" dirty="0" err="1">
                <a:hlinkClick r:id="rId2"/>
              </a:rPr>
              <a:t>England</a:t>
            </a:r>
            <a:r>
              <a:rPr lang="ko-KR" altLang="ko-KR" i="1" u="sng" dirty="0">
                <a:hlinkClick r:id="rId2"/>
              </a:rPr>
              <a:t> - </a:t>
            </a:r>
            <a:r>
              <a:rPr lang="ko-KR" altLang="ko-KR" i="1" u="sng" dirty="0" err="1">
                <a:hlinkClick r:id="rId2"/>
              </a:rPr>
              <a:t>Habitat</a:t>
            </a:r>
            <a:r>
              <a:rPr lang="ko-KR" altLang="ko-KR" i="1" u="sng" dirty="0">
                <a:hlinkClick r:id="rId2"/>
              </a:rPr>
              <a:t> Network </a:t>
            </a:r>
            <a:r>
              <a:rPr lang="ko-KR" altLang="ko-KR" i="1" u="sng" dirty="0" err="1">
                <a:hlinkClick r:id="rId2"/>
              </a:rPr>
              <a:t>Mapping</a:t>
            </a:r>
            <a:r>
              <a:rPr lang="ko-KR" altLang="ko-KR" i="1" u="sng" dirty="0">
                <a:hlinkClick r:id="rId2"/>
              </a:rPr>
              <a:t> </a:t>
            </a:r>
            <a:r>
              <a:rPr lang="ko-KR" altLang="ko-KR" i="1" u="sng" dirty="0" err="1">
                <a:hlinkClick r:id="rId2"/>
              </a:rPr>
              <a:t>Guidance</a:t>
            </a:r>
            <a:r>
              <a:rPr lang="ko-KR" altLang="ko-KR" i="1" u="sng" dirty="0">
                <a:hlinkClick r:id="rId2"/>
              </a:rPr>
              <a:t>(PDF)</a:t>
            </a:r>
            <a:endParaRPr lang="en-US" altLang="ko-KR" i="1" dirty="0"/>
          </a:p>
          <a:p>
            <a:r>
              <a:rPr lang="ko-KR" altLang="ko-KR" i="1" u="sng" dirty="0" err="1">
                <a:hlinkClick r:id="rId3"/>
              </a:rPr>
              <a:t>Malczewski</a:t>
            </a:r>
            <a:r>
              <a:rPr lang="ko-KR" altLang="ko-KR" i="1" u="sng" dirty="0">
                <a:hlinkClick r:id="rId3"/>
              </a:rPr>
              <a:t> (York </a:t>
            </a:r>
            <a:r>
              <a:rPr lang="ko-KR" altLang="ko-KR" i="1" u="sng" dirty="0" err="1">
                <a:hlinkClick r:id="rId3"/>
              </a:rPr>
              <a:t>University</a:t>
            </a:r>
            <a:r>
              <a:rPr lang="ko-KR" altLang="ko-KR" i="1" u="sng" dirty="0">
                <a:hlinkClick r:id="rId3"/>
              </a:rPr>
              <a:t>) - </a:t>
            </a:r>
            <a:r>
              <a:rPr lang="ko-KR" altLang="ko-KR" i="1" u="sng" dirty="0" err="1">
                <a:hlinkClick r:id="rId3"/>
              </a:rPr>
              <a:t>On</a:t>
            </a:r>
            <a:r>
              <a:rPr lang="ko-KR" altLang="ko-KR" i="1" u="sng" dirty="0">
                <a:hlinkClick r:id="rId3"/>
              </a:rPr>
              <a:t> </a:t>
            </a:r>
            <a:r>
              <a:rPr lang="ko-KR" altLang="ko-KR" i="1" u="sng" dirty="0" err="1">
                <a:hlinkClick r:id="rId3"/>
              </a:rPr>
              <a:t>the</a:t>
            </a:r>
            <a:r>
              <a:rPr lang="ko-KR" altLang="ko-KR" i="1" u="sng" dirty="0">
                <a:hlinkClick r:id="rId3"/>
              </a:rPr>
              <a:t> </a:t>
            </a:r>
            <a:r>
              <a:rPr lang="ko-KR" altLang="ko-KR" i="1" u="sng" dirty="0" err="1">
                <a:hlinkClick r:id="rId3"/>
              </a:rPr>
              <a:t>Use</a:t>
            </a:r>
            <a:r>
              <a:rPr lang="ko-KR" altLang="ko-KR" i="1" u="sng" dirty="0">
                <a:hlinkClick r:id="rId3"/>
              </a:rPr>
              <a:t> of </a:t>
            </a:r>
            <a:r>
              <a:rPr lang="ko-KR" altLang="ko-KR" i="1" u="sng" dirty="0" err="1">
                <a:hlinkClick r:id="rId3"/>
              </a:rPr>
              <a:t>Weighted</a:t>
            </a:r>
            <a:r>
              <a:rPr lang="ko-KR" altLang="ko-KR" i="1" u="sng" dirty="0">
                <a:hlinkClick r:id="rId3"/>
              </a:rPr>
              <a:t> </a:t>
            </a:r>
            <a:r>
              <a:rPr lang="ko-KR" altLang="ko-KR" i="1" u="sng" dirty="0" err="1">
                <a:hlinkClick r:id="rId3"/>
              </a:rPr>
              <a:t>Linear</a:t>
            </a:r>
            <a:r>
              <a:rPr lang="ko-KR" altLang="ko-KR" i="1" u="sng" dirty="0">
                <a:hlinkClick r:id="rId3"/>
              </a:rPr>
              <a:t> </a:t>
            </a:r>
            <a:r>
              <a:rPr lang="ko-KR" altLang="ko-KR" i="1" u="sng" dirty="0" err="1">
                <a:hlinkClick r:id="rId3"/>
              </a:rPr>
              <a:t>Combination</a:t>
            </a:r>
            <a:r>
              <a:rPr lang="ko-KR" altLang="ko-KR" i="1" u="sng" dirty="0">
                <a:hlinkClick r:id="rId3"/>
              </a:rPr>
              <a:t> </a:t>
            </a:r>
            <a:r>
              <a:rPr lang="ko-KR" altLang="ko-KR" i="1" u="sng" dirty="0" err="1">
                <a:hlinkClick r:id="rId3"/>
              </a:rPr>
              <a:t>Method</a:t>
            </a:r>
            <a:r>
              <a:rPr lang="ko-KR" altLang="ko-KR" i="1" u="sng" dirty="0">
                <a:hlinkClick r:id="rId3"/>
              </a:rPr>
              <a:t> </a:t>
            </a:r>
            <a:r>
              <a:rPr lang="ko-KR" altLang="ko-KR" i="1" u="sng" dirty="0" err="1">
                <a:hlinkClick r:id="rId3"/>
              </a:rPr>
              <a:t>in</a:t>
            </a:r>
            <a:r>
              <a:rPr lang="ko-KR" altLang="ko-KR" i="1" u="sng" dirty="0">
                <a:hlinkClick r:id="rId3"/>
              </a:rPr>
              <a:t> GIS (PDF)</a:t>
            </a:r>
            <a:endParaRPr lang="en-US" altLang="ko-KR" i="1" u="sng" dirty="0"/>
          </a:p>
          <a:p>
            <a:r>
              <a:rPr lang="ko-KR" altLang="ko-KR" i="1" u="sng" dirty="0" err="1">
                <a:hlinkClick r:id="rId4"/>
              </a:rPr>
              <a:t>Location</a:t>
            </a:r>
            <a:r>
              <a:rPr lang="ko-KR" altLang="ko-KR" i="1" u="sng" dirty="0">
                <a:hlinkClick r:id="rId4"/>
              </a:rPr>
              <a:t> </a:t>
            </a:r>
            <a:r>
              <a:rPr lang="ko-KR" altLang="ko-KR" i="1" u="sng" dirty="0" err="1">
                <a:hlinkClick r:id="rId4"/>
              </a:rPr>
              <a:t>Intelligence</a:t>
            </a:r>
            <a:r>
              <a:rPr lang="ko-KR" altLang="ko-KR" i="1" u="sng" dirty="0">
                <a:hlinkClick r:id="rId4"/>
              </a:rPr>
              <a:t> - </a:t>
            </a:r>
            <a:r>
              <a:rPr lang="ko-KR" altLang="ko-KR" i="1" u="sng" dirty="0" err="1">
                <a:hlinkClick r:id="rId4"/>
              </a:rPr>
              <a:t>Building</a:t>
            </a:r>
            <a:r>
              <a:rPr lang="ko-KR" altLang="ko-KR" i="1" u="sng" dirty="0">
                <a:hlinkClick r:id="rId4"/>
              </a:rPr>
              <a:t> </a:t>
            </a:r>
            <a:r>
              <a:rPr lang="ko-KR" altLang="ko-KR" i="1" u="sng" dirty="0" err="1">
                <a:hlinkClick r:id="rId4"/>
              </a:rPr>
              <a:t>Weighted</a:t>
            </a:r>
            <a:r>
              <a:rPr lang="ko-KR" altLang="ko-KR" i="1" u="sng" dirty="0">
                <a:hlinkClick r:id="rId4"/>
              </a:rPr>
              <a:t> </a:t>
            </a:r>
            <a:r>
              <a:rPr lang="ko-KR" altLang="ko-KR" i="1" u="sng" dirty="0" err="1">
                <a:hlinkClick r:id="rId4"/>
              </a:rPr>
              <a:t>Site</a:t>
            </a:r>
            <a:r>
              <a:rPr lang="ko-KR" altLang="ko-KR" i="1" u="sng" dirty="0">
                <a:hlinkClick r:id="rId4"/>
              </a:rPr>
              <a:t> </a:t>
            </a:r>
            <a:r>
              <a:rPr lang="ko-KR" altLang="ko-KR" i="1" u="sng" dirty="0" err="1">
                <a:hlinkClick r:id="rId4"/>
              </a:rPr>
              <a:t>Suitability</a:t>
            </a:r>
            <a:r>
              <a:rPr lang="ko-KR" altLang="ko-KR" i="1" u="sng" dirty="0">
                <a:hlinkClick r:id="rId4"/>
              </a:rPr>
              <a:t> </a:t>
            </a:r>
            <a:r>
              <a:rPr lang="ko-KR" altLang="ko-KR" i="1" u="sng" dirty="0" err="1">
                <a:hlinkClick r:id="rId4"/>
              </a:rPr>
              <a:t>Scores</a:t>
            </a:r>
            <a:r>
              <a:rPr lang="ko-KR" altLang="ko-KR" i="1" u="sng" dirty="0">
                <a:hlinkClick r:id="rId4"/>
              </a:rPr>
              <a:t> &amp; MCDA</a:t>
            </a:r>
            <a:endParaRPr lang="ko-KR" altLang="ko-KR" i="1" dirty="0"/>
          </a:p>
          <a:p>
            <a:pPr marL="0" indent="0">
              <a:buNone/>
            </a:pPr>
            <a:br>
              <a:rPr lang="ko-KR" altLang="ko-KR" dirty="0"/>
            </a:br>
            <a:endParaRPr lang="ko-KR" altLang="ko-KR" dirty="0"/>
          </a:p>
          <a:p>
            <a:endParaRPr lang="ko-KR" altLang="en-US" dirty="0"/>
          </a:p>
        </p:txBody>
      </p:sp>
    </p:spTree>
    <p:extLst>
      <p:ext uri="{BB962C8B-B14F-4D97-AF65-F5344CB8AC3E}">
        <p14:creationId xmlns:p14="http://schemas.microsoft.com/office/powerpoint/2010/main" val="192589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B2F73B-18BE-35B5-A011-8744E6805582}"/>
              </a:ext>
            </a:extLst>
          </p:cNvPr>
          <p:cNvSpPr txBox="1"/>
          <p:nvPr/>
        </p:nvSpPr>
        <p:spPr>
          <a:xfrm>
            <a:off x="3543300" y="2828835"/>
            <a:ext cx="7924800" cy="1200329"/>
          </a:xfrm>
          <a:prstGeom prst="rect">
            <a:avLst/>
          </a:prstGeom>
          <a:noFill/>
        </p:spPr>
        <p:txBody>
          <a:bodyPr wrap="square" rtlCol="0">
            <a:spAutoFit/>
          </a:bodyPr>
          <a:lstStyle/>
          <a:p>
            <a:r>
              <a:rPr lang="en-US" altLang="ko-KR" sz="7200" dirty="0"/>
              <a:t>Thank Y</a:t>
            </a:r>
            <a:r>
              <a:rPr lang="ko-KR" altLang="ko-KR" sz="7200" dirty="0" err="1"/>
              <a:t>o</a:t>
            </a:r>
            <a:r>
              <a:rPr lang="en-US" altLang="ko-KR" sz="7200" dirty="0"/>
              <a:t>u!</a:t>
            </a:r>
            <a:endParaRPr lang="ko-KR" altLang="en-US" sz="7200" dirty="0"/>
          </a:p>
        </p:txBody>
      </p:sp>
    </p:spTree>
    <p:extLst>
      <p:ext uri="{BB962C8B-B14F-4D97-AF65-F5344CB8AC3E}">
        <p14:creationId xmlns:p14="http://schemas.microsoft.com/office/powerpoint/2010/main" val="296951776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738</Words>
  <Application>Microsoft Office PowerPoint</Application>
  <PresentationFormat>와이드스크린</PresentationFormat>
  <Paragraphs>37</Paragraphs>
  <Slides>12</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12</vt:i4>
      </vt:variant>
    </vt:vector>
  </HeadingPairs>
  <TitlesOfParts>
    <vt:vector size="15" baseType="lpstr">
      <vt:lpstr>맑은 고딕</vt:lpstr>
      <vt:lpstr>Arial</vt:lpstr>
      <vt:lpstr>Office 테마</vt:lpstr>
      <vt:lpstr>PowerPoint 프레젠테이션</vt:lpstr>
      <vt:lpstr>PowerPoint 프레젠테이션</vt:lpstr>
      <vt:lpstr>Baseline Anchoring: Ancient Woodland Extraction &amp; 250m Ecological Buffer </vt:lpstr>
      <vt:lpstr>Target Habitat Selection &amp; Gap Extraction </vt:lpstr>
      <vt:lpstr>Priority Habitat Inventory (PHI) Overlay </vt:lpstr>
      <vt:lpstr>Road Barrier Exclusion </vt:lpstr>
      <vt:lpstr>Centroid Distance &amp; MCDA Scoring </vt:lpstr>
      <vt:lpstr>UKHab Cartography &amp; Automation </vt:lpstr>
      <vt:lpstr>PowerPoint 프레젠테이션</vt:lpstr>
      <vt:lpstr>Data Sources Used</vt:lpstr>
      <vt:lpstr>Reference</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 woong choi</dc:creator>
  <cp:lastModifiedBy>il woong choi</cp:lastModifiedBy>
  <cp:revision>2</cp:revision>
  <dcterms:created xsi:type="dcterms:W3CDTF">2026-09-05T22:30:34Z</dcterms:created>
  <dcterms:modified xsi:type="dcterms:W3CDTF">2026-09-06T00:40:31Z</dcterms:modified>
</cp:coreProperties>
</file>