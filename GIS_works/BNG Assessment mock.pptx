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2:38.47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1 117 24575,'87'-3'0,"155"-24"0,80-39 0,-304 62 0,31-4 0,1 2 0,-1 3 0,93 5 0,-32 1 0,414-3-1365,-501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2:39.65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24575,'1257'0'-1365,"-1196"0"-5461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2:40.77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24575,'816'0'-1365,"-794"0"-5461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2:41.99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24575,'1226'0'-1365,"-1200"0"-5461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2:43.29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0 116 24575,'1'-1'0,"-1"-1"0,1 1 0,0 0 0,0 0 0,0 0 0,0 0 0,0 0 0,0 0 0,0 0 0,0 1 0,0-1 0,1 0 0,-1 1 0,0-1 0,0 0 0,1 1 0,-1 0 0,0-1 0,1 1 0,-1 0 0,0 0 0,1-1 0,1 1 0,3-1 0,114-24 0,220-16 0,-172 23 0,-103 10 0,1 2 0,122 7 0,-77 1 0,-44-1-1365,-10-1-5461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2:44.77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24575,'772'0'-1365,"-742"0"-5461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4T21:13:32.70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3326 472 24575,'0'-5'0,"-1"0"0,1 0 0,-1 0 0,-1 0 0,1 1 0,-1-1 0,0 0 0,0 1 0,0-1 0,0 1 0,-1 0 0,-4-6 0,-6-6 0,-25-25 0,15 18 0,-5-8 0,-1 2 0,-54-42 0,72 63 0,-1 0 0,0 1 0,0 0 0,0 1 0,-1 1 0,0 0 0,0 1 0,0 0 0,-1 1 0,1 0 0,-28-1 0,-279 6 0,84 2 0,-529-4 0,690 4 0,2 3 0,-87 21 0,79-14 0,5 0 0,-218 33 0,280-44 0,0 1 0,1 1 0,-1 0 0,1 0 0,1 1 0,-1 1 0,1 0 0,-20 16 0,-10 5 0,40-27 0,-35 21 0,0 1 0,2 2 0,1 1 0,-45 45 0,8 6 0,-78 113 0,128-153 0,0 2 0,3 0 0,2 1 0,-13 45 0,-6 11 0,21-60 0,5-16 0,1 1 0,0 0 0,2 0 0,0 1 0,1 0 0,1 0 0,-1 32 0,25 366 0,-7-224 0,-10-157 0,2 0 0,2-1 0,2 0 0,1-1 0,2 1 0,19 41 0,118 203 0,-27-61 0,-106-187 0,98 187 0,-91-182 0,3-1 0,0-1 0,46 48 0,-9-8 0,-51-61 0,0 0 0,1 0 0,1-2 0,0 1 0,1-2 0,0 0 0,27 17 0,-11-14 0,1-2 0,0-1 0,1-1 0,0-2 0,1-1 0,0-2 0,49 5 0,250-4 0,-266-9 0,590-2 0,-557-2 0,139-23 0,-120 11 0,-81 11 0,0-2 0,63-22 0,71-38 0,-64 23 0,-76 30 0,-2-1 0,0-2 0,-1-1 0,-1-1 0,38-35 0,-11 10 0,-14 13 0,99-86 0,-123 101 0,0 0 0,-1-2 0,-1 0 0,-1-1 0,18-33 0,90-186 0,-114 223 0,0 0 0,-2-1 0,0 0 0,0 0 0,3-25 0,7-91 0,-5 29 0,2-22 0,-8-249 0,-7 208 0,2 75 0,-2-130 0,-2 171 0,-1 1 0,-17-67 0,-43-100 0,49 178 0,-1 0 0,-2 1 0,-31-46 0,-153-196 0,146 201 0,-94-103 0,146 178 0,1 0 0,0 0 0,-1 1 0,0-1 0,0 1 0,0 0 0,0 1 0,-1-1 0,1 1 0,-1 0 0,1 0 0,-1 1 0,-6-2 0,-8 1 0,1 1 0,-33 1 0,-5 0 0,49-1 15,-1-1 1,1 0-1,0 0 0,1-1 0,-1 0 1,0 0-1,-8-6 0,-28-10-1502,23 13-5339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51198-79F0-D8D0-F882-DAA00310C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3B671F-BD99-0BB5-EA76-D5979DEB6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EEE32-D2C8-54AB-4BBE-23EA33E3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8DD5B4-A840-312B-5586-70EC32F5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D8493-2391-C034-167E-E0E39A5B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79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493EC-93F8-95F9-ADF8-034CE09F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09EEE-69FF-2BD9-F2B1-312075B1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067DB6-16AA-2C1E-5537-066D7750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70FA7-BDE1-661E-AB2E-CEB703E9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F6309-D887-6328-3E44-F9C9382A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71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71F8A-FDE7-1649-B94E-1BC84B0A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942FAD-D73A-3DA9-752F-85F5CF277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95C940-462A-E989-523C-5CDC763B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264A32-393A-59CB-D83C-EBB93FFD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AFCC39-5211-0358-0ACE-2DBFECA5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79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0B7A6-0FA7-426D-8AFD-D0801FD1E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54ED3-8F0A-AA73-6BC1-48B08B0DF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622CC-0007-031E-CF14-4B650B68C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1A03F-C8F2-10C5-B13B-9C9F294A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EFB23C-AF0C-3913-0DFB-35011CD7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260011-A3AD-21CD-E2F1-91A8948C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65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947F6-BCE5-FEAF-F5AA-3A6538D0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15D56C-5A87-7FCC-5D63-8A56F503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9A914B-8D10-DAA8-2E15-F8F415A86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84EF0-1AD7-C5AB-75BC-96DADC1EB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BA6E65-6371-98E1-090B-F616FE184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DB89A7-5BB7-84C4-12DB-97301892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419AC0-8B8E-9ADA-B018-E6C5A2C1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86061B-819B-9530-D07B-23F0B9B4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73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F0268-6F5F-A47F-31E4-F27BB335B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6923F3-C686-73D2-C81D-856C0312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D1F2A2-3DD4-3916-FA0F-0B60CFC4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C8EE34-B219-571B-9BE1-84ABC3ED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33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A0AAD8-C5EF-F6BD-8AA4-C21ECD76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BE9D60-1BCE-6CD4-BBE5-F819DCE7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80207-130F-6948-A3E9-37E3394E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2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E54B7-A463-6E3A-9524-BAF56E81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FB61DE-CBA7-0A91-D70B-98B7819F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F732E0-0ADA-8263-043F-6FABF0F0F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AE412D-DB62-0286-A0D2-0DDE6C61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5163F0-4F8E-C68C-F86F-41C324A0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169DFB-9390-3513-534E-FA5D923E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05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1A100-2194-AFD9-2EF8-FD670C05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8251294-E475-5819-2026-3EBC20383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EB01AB-149D-0F15-5B3A-CA3FAF7DB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581698-252A-9B2C-C70F-266B8A58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6F9592-47A5-02EB-D93B-8F235289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F1BAEE-909F-54A4-3FD8-D80EBB47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89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FF4DF-91F9-B51A-6794-80F35C44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E53C79-48F4-E6C4-E9AF-C82CF2DC5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D8913-12D2-0A5E-5180-6B46F97EE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63E03-278C-5BAD-300D-894F3557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D041F-E15A-19FE-A330-B8F1BEDB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24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724D48-396D-FE56-B6C5-660A10E00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A28403-7458-FF5A-A5B9-535DF6866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F26099-A799-92F8-A4F9-9CF43E59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0DCE3-BB5D-678C-3165-681E5F7D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60E64C-BCC9-3077-84B9-F5D70172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65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C8CD75-A2CE-016F-C383-21DB59EB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7C6C60-7B5B-FF2D-0D42-24FC7156D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9658C-89D8-7244-357D-66CC1466B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AE06F-7D35-4081-B383-50D9901EBC7A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EF467-2A41-591C-65C2-D14677EDD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7ED7B0-E84F-3110-0F2B-129C4AA68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685B5-00B2-411F-AA43-2F2FBB3595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64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40CC8F-1EFF-D09E-2513-293DB11A0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08" y="997613"/>
            <a:ext cx="8932984" cy="5024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EC60F8-C386-FBFD-77E0-AA37C7A12C6F}"/>
              </a:ext>
            </a:extLst>
          </p:cNvPr>
          <p:cNvSpPr txBox="1"/>
          <p:nvPr/>
        </p:nvSpPr>
        <p:spPr>
          <a:xfrm>
            <a:off x="763675" y="110532"/>
            <a:ext cx="4582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Biodiversity Net Gain Assessment on Chiltern Area of Outstanding Natural Beauty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78178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46C2F89-FEC2-7236-9F37-DB8017A5F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68" y="1055705"/>
            <a:ext cx="9777046" cy="5499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BDA904-D204-FEBE-B483-F5D34AAD1E32}"/>
              </a:ext>
            </a:extLst>
          </p:cNvPr>
          <p:cNvSpPr txBox="1"/>
          <p:nvPr/>
        </p:nvSpPr>
        <p:spPr>
          <a:xfrm>
            <a:off x="562707" y="130629"/>
            <a:ext cx="1141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Make new fields in the habitat data acquired from data portals on given portion of land that is relevant to BNG Assessment.</a:t>
            </a:r>
          </a:p>
          <a:p>
            <a:r>
              <a:rPr lang="en-US" altLang="ko-KR" dirty="0"/>
              <a:t>(Distinctiveness, Condition, Baseline Score, Post dev Distinctiveness, Post dev condition, Post dev score </a:t>
            </a:r>
            <a:r>
              <a:rPr lang="en-US" altLang="ko-KR" dirty="0" err="1"/>
              <a:t>etc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EB8C0F-7281-0C2C-D0B9-6D37DA7F6C39}"/>
              </a:ext>
            </a:extLst>
          </p:cNvPr>
          <p:cNvGrpSpPr/>
          <p:nvPr/>
        </p:nvGrpSpPr>
        <p:grpSpPr>
          <a:xfrm>
            <a:off x="7073755" y="1495507"/>
            <a:ext cx="3555000" cy="72360"/>
            <a:chOff x="7073755" y="1495507"/>
            <a:chExt cx="3555000" cy="7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0BED090-62D8-44CE-0544-16744634A284}"/>
                    </a:ext>
                  </a:extLst>
                </p14:cNvPr>
                <p14:cNvContentPartPr/>
                <p14:nvPr/>
              </p14:nvContentPartPr>
              <p14:xfrm>
                <a:off x="7073755" y="1495507"/>
                <a:ext cx="582480" cy="42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0BED090-62D8-44CE-0544-16744634A28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67635" y="1489387"/>
                  <a:ext cx="594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4245D70-C62F-EFC5-2341-BCD30E7C308C}"/>
                    </a:ext>
                  </a:extLst>
                </p14:cNvPr>
                <p14:cNvContentPartPr/>
                <p14:nvPr/>
              </p14:nvContentPartPr>
              <p14:xfrm>
                <a:off x="7787275" y="1507027"/>
                <a:ext cx="474840" cy="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4245D70-C62F-EFC5-2341-BCD30E7C30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81155" y="1500907"/>
                  <a:ext cx="487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8217C3F-2B44-C475-96A0-03DE1C70EFEB}"/>
                    </a:ext>
                  </a:extLst>
                </p14:cNvPr>
                <p14:cNvContentPartPr/>
                <p14:nvPr/>
              </p14:nvContentPartPr>
              <p14:xfrm>
                <a:off x="8460475" y="1507027"/>
                <a:ext cx="302040" cy="3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8217C3F-2B44-C475-96A0-03DE1C70EFE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54355" y="1500907"/>
                  <a:ext cx="314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A761A99-A62D-3AA8-907A-6DC3137DCC48}"/>
                    </a:ext>
                  </a:extLst>
                </p14:cNvPr>
                <p14:cNvContentPartPr/>
                <p14:nvPr/>
              </p14:nvContentPartPr>
              <p14:xfrm>
                <a:off x="8983195" y="1537627"/>
                <a:ext cx="451440" cy="3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A761A99-A62D-3AA8-907A-6DC3137DCC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77075" y="1531507"/>
                  <a:ext cx="46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43D6DA7-6FF2-3576-C175-129E04C716AD}"/>
                    </a:ext>
                  </a:extLst>
                </p14:cNvPr>
                <p14:cNvContentPartPr/>
                <p14:nvPr/>
              </p14:nvContentPartPr>
              <p14:xfrm>
                <a:off x="9636595" y="1505947"/>
                <a:ext cx="438480" cy="417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43D6DA7-6FF2-3576-C175-129E04C716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30475" y="1499827"/>
                  <a:ext cx="450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E9F599E-5900-08AD-A1FB-E64818BA249A}"/>
                    </a:ext>
                  </a:extLst>
                </p14:cNvPr>
                <p14:cNvContentPartPr/>
                <p14:nvPr/>
              </p14:nvContentPartPr>
              <p14:xfrm>
                <a:off x="10339675" y="1567507"/>
                <a:ext cx="289080" cy="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E9F599E-5900-08AD-A1FB-E64818BA249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333195" y="1561387"/>
                  <a:ext cx="30132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671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460BF7-666C-4DAD-E30F-D3EEB262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799" y="352949"/>
            <a:ext cx="7455876" cy="41939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D097E774-CB51-5851-73CD-685555087F71}"/>
                  </a:ext>
                </a:extLst>
              </p14:cNvPr>
              <p14:cNvContentPartPr/>
              <p14:nvPr/>
            </p14:nvContentPartPr>
            <p14:xfrm>
              <a:off x="4520275" y="1920307"/>
              <a:ext cx="1409400" cy="12769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D097E774-CB51-5851-73CD-685555087F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4155" y="1914187"/>
                <a:ext cx="1421640" cy="12891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85AF2BF-0108-CD60-8C54-9DACFA3F987E}"/>
              </a:ext>
            </a:extLst>
          </p:cNvPr>
          <p:cNvSpPr txBox="1"/>
          <p:nvPr/>
        </p:nvSpPr>
        <p:spPr>
          <a:xfrm>
            <a:off x="673240" y="4858346"/>
            <a:ext cx="110129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 distinctiveness of a land patch on a site, you normally assign a value for each type of habitat for that land patch, however for the sake of simulation I just assigned 4 for DWOOD, 3 for LCGRA, 2 for LFENS, 1 for LHEAT and 0 for all the other habitats. I also assigned random condition values(Good, moderate and bad) for each patch of land, which in real life you would undertake an in depth field survey. Same to the post-dev conditions and distinctiveness. For the real BNG assessment you would do an on-site survey to determine the pre and post development conditions of the site.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445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73855BAD-91AD-1E42-7C40-8FE64621FC9B}"/>
                  </a:ext>
                </a:extLst>
              </p:cNvPr>
              <p:cNvSpPr/>
              <p:nvPr/>
            </p:nvSpPr>
            <p:spPr>
              <a:xfrm>
                <a:off x="418264" y="967713"/>
                <a:ext cx="11773736" cy="175432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5400" b="0" i="1" cap="none" spc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𝑆𝑐𝑜𝑟𝑒</m:t>
                    </m:r>
                  </m:oMath>
                </a14:m>
                <a:r>
                  <a:rPr lang="en-US" altLang="ko-KR" sz="5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= </a:t>
                </a:r>
                <a:r>
                  <a:rPr lang="en-US" altLang="ko-KR" sz="5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Area in Ha * </a:t>
                </a:r>
                <a:r>
                  <a:rPr lang="en-US" altLang="ko-KR" sz="5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distinctiveness </a:t>
                </a:r>
              </a:p>
              <a:p>
                <a:pPr algn="ctr"/>
                <a:r>
                  <a:rPr lang="en-US" altLang="ko-KR" sz="5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* condition</a:t>
                </a: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73855BAD-91AD-1E42-7C40-8FE64621FC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64" y="967713"/>
                <a:ext cx="11773736" cy="1754326"/>
              </a:xfrm>
              <a:prstGeom prst="rect">
                <a:avLst/>
              </a:prstGeom>
              <a:blipFill>
                <a:blip r:embed="rId2"/>
                <a:stretch>
                  <a:fillRect t="-11458" r="-2641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EA5C296-42FF-1139-9936-D6A43F7F7681}"/>
              </a:ext>
            </a:extLst>
          </p:cNvPr>
          <p:cNvSpPr txBox="1"/>
          <p:nvPr/>
        </p:nvSpPr>
        <p:spPr>
          <a:xfrm>
            <a:off x="668007" y="3867393"/>
            <a:ext cx="11274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Above is the formulae for calculating the baseline(pre-dev) score for a given patch of land. Same goes for the post-dev score, but with Connectivity and Strategic Significance additionally multiplied. In this simulation I standardized the Strategic Significance values to 1 for all land patches.  Then I added up baseline and post-dev scores separately for all the land patches within the site of interest.</a:t>
            </a:r>
          </a:p>
        </p:txBody>
      </p:sp>
    </p:spTree>
    <p:extLst>
      <p:ext uri="{BB962C8B-B14F-4D97-AF65-F5344CB8AC3E}">
        <p14:creationId xmlns:p14="http://schemas.microsoft.com/office/powerpoint/2010/main" val="187123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BBAA16-D84C-C73E-EF24-B8E88A215EBD}"/>
                  </a:ext>
                </a:extLst>
              </p:cNvPr>
              <p:cNvSpPr txBox="1"/>
              <p:nvPr/>
            </p:nvSpPr>
            <p:spPr>
              <a:xfrm>
                <a:off x="1093076" y="785502"/>
                <a:ext cx="11098924" cy="12578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𝐵𝑁𝐺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𝑃𝑜𝑠𝑡𝑑𝑒𝑣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𝑆𝑐𝑜𝑟𝑒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</m:e>
                        </m:nary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𝐵𝑎𝑠𝑒𝑙𝑖𝑛𝑒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𝑆𝑐𝑜𝑟𝑒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𝐵𝑎𝑠𝑒𝑙𝑖𝑛𝑒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𝑆𝑐𝑜𝑟𝑒</m:t>
                            </m:r>
                          </m:e>
                        </m:nary>
                      </m:den>
                    </m:f>
                  </m:oMath>
                </a14:m>
                <a:r>
                  <a:rPr lang="ko-KR" altLang="en-US" sz="3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3600" b="0" dirty="0">
                  <a:ea typeface="Cambria Math" panose="02040503050406030204" pitchFamily="18" charset="0"/>
                </a:endParaRPr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BBAA16-D84C-C73E-EF24-B8E88A215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076" y="785502"/>
                <a:ext cx="11098924" cy="1257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0C0B702-4F9A-7936-79AB-3F4E6AE3C53C}"/>
                  </a:ext>
                </a:extLst>
              </p:cNvPr>
              <p:cNvSpPr/>
              <p:nvPr/>
            </p:nvSpPr>
            <p:spPr>
              <a:xfrm>
                <a:off x="1207632" y="2620492"/>
                <a:ext cx="9566530" cy="130984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ko-KR" sz="4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48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4800" b="0" cap="none" spc="0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80110 – 36341.86</m:t>
                        </m:r>
                      </m:num>
                      <m:den>
                        <m:r>
                          <a:rPr lang="en-US" altLang="ko-KR" sz="48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36341.86</m:t>
                        </m:r>
                      </m:den>
                    </m:f>
                  </m:oMath>
                </a14:m>
                <a:r>
                  <a:rPr lang="en-US" altLang="ko-KR" sz="4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4800" b="0" i="1" cap="none" spc="0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 ≈120</m:t>
                    </m:r>
                  </m:oMath>
                </a14:m>
                <a:endParaRPr lang="en-US" altLang="ko-KR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0C0B702-4F9A-7936-79AB-3F4E6AE3C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632" y="2620492"/>
                <a:ext cx="9566530" cy="1309846"/>
              </a:xfrm>
              <a:prstGeom prst="rect">
                <a:avLst/>
              </a:prstGeom>
              <a:blipFill>
                <a:blip r:embed="rId3"/>
                <a:stretch>
                  <a:fillRect l="-2677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82E8C42-2433-EE6A-1BBE-46AA552F0A4C}"/>
              </a:ext>
            </a:extLst>
          </p:cNvPr>
          <p:cNvSpPr txBox="1"/>
          <p:nvPr/>
        </p:nvSpPr>
        <p:spPr>
          <a:xfrm>
            <a:off x="1650124" y="5087007"/>
            <a:ext cx="8460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There was approximately 20% increase in the ecological value after development, which is good!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486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59A755-3448-62B2-63CC-5CC558CDC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65" y="365510"/>
            <a:ext cx="8410470" cy="4730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8618DE-8FB2-5A39-B689-FF2BB6187969}"/>
              </a:ext>
            </a:extLst>
          </p:cNvPr>
          <p:cNvSpPr txBox="1"/>
          <p:nvPr/>
        </p:nvSpPr>
        <p:spPr>
          <a:xfrm>
            <a:off x="1296238" y="5292161"/>
            <a:ext cx="9405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I was actually going to use this macro made by the UK government to calculate the BNG score for the given site, but decided to have a go at going through the whole simplified procedure of BNG score calculation partly because the metric was much more complex.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9E841E-CA9D-A724-AD9E-75CF10AAF13C}"/>
              </a:ext>
            </a:extLst>
          </p:cNvPr>
          <p:cNvSpPr/>
          <p:nvPr/>
        </p:nvSpPr>
        <p:spPr>
          <a:xfrm>
            <a:off x="4263062" y="2967335"/>
            <a:ext cx="36658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8029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339</Words>
  <Application>Microsoft Office PowerPoint</Application>
  <PresentationFormat>와이드스크린</PresentationFormat>
  <Paragraphs>13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 woong choi</dc:creator>
  <cp:lastModifiedBy>il woong choi</cp:lastModifiedBy>
  <cp:revision>3</cp:revision>
  <dcterms:created xsi:type="dcterms:W3CDTF">2025-07-04T21:01:49Z</dcterms:created>
  <dcterms:modified xsi:type="dcterms:W3CDTF">2025-07-05T18:23:50Z</dcterms:modified>
</cp:coreProperties>
</file>